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EDD2F82-8075-4A76-8C37-0F7348E3757F}">
  <a:tblStyle styleId="{DEDD2F82-8075-4A76-8C37-0F7348E3757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" name="Google Shape;3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4" name="Google Shape;20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0" name="Google Shape;23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1" name="Google Shape;281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1" name="Google Shape;311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2" name="Google Shape;362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550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 rot="10800000" flipH="1">
            <a:off x="9709574" y="3227833"/>
            <a:ext cx="868680" cy="256032"/>
          </a:xfrm>
          <a:prstGeom prst="straightConnector1">
            <a:avLst/>
          </a:prstGeom>
          <a:noFill/>
          <a:ln w="12700" cap="flat" cmpd="sng">
            <a:solidFill>
              <a:srgbClr val="4F7398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7" name="Google Shape;17;p3"/>
          <p:cNvCxnSpPr/>
          <p:nvPr/>
        </p:nvCxnSpPr>
        <p:spPr>
          <a:xfrm flipH="1">
            <a:off x="10276502" y="3227833"/>
            <a:ext cx="301752" cy="914400"/>
          </a:xfrm>
          <a:prstGeom prst="straightConnector1">
            <a:avLst/>
          </a:prstGeom>
          <a:noFill/>
          <a:ln w="12700" cap="flat" cmpd="sng">
            <a:solidFill>
              <a:srgbClr val="4F7398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8" name="Google Shape;18;p3"/>
          <p:cNvCxnSpPr/>
          <p:nvPr/>
        </p:nvCxnSpPr>
        <p:spPr>
          <a:xfrm rot="10800000">
            <a:off x="9709574" y="3483865"/>
            <a:ext cx="566928" cy="658368"/>
          </a:xfrm>
          <a:prstGeom prst="straightConnector1">
            <a:avLst/>
          </a:prstGeom>
          <a:noFill/>
          <a:ln w="12700" cap="flat" cmpd="sng">
            <a:solidFill>
              <a:srgbClr val="4F7398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9" name="Google Shape;19;p3"/>
          <p:cNvSpPr/>
          <p:nvPr/>
        </p:nvSpPr>
        <p:spPr>
          <a:xfrm>
            <a:off x="9590702" y="3364993"/>
            <a:ext cx="237744" cy="237744"/>
          </a:xfrm>
          <a:prstGeom prst="ellipse">
            <a:avLst/>
          </a:prstGeom>
          <a:solidFill>
            <a:srgbClr val="1B3550"/>
          </a:solidFill>
          <a:ln w="19050" cap="flat" cmpd="sng">
            <a:solidFill>
              <a:srgbClr val="AFC4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10459382" y="3108961"/>
            <a:ext cx="237744" cy="237744"/>
          </a:xfrm>
          <a:prstGeom prst="ellipse">
            <a:avLst/>
          </a:prstGeom>
          <a:solidFill>
            <a:srgbClr val="1B3550"/>
          </a:solidFill>
          <a:ln w="19050" cap="flat" cmpd="sng">
            <a:solidFill>
              <a:srgbClr val="AFC4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10157630" y="4023361"/>
            <a:ext cx="237744" cy="237744"/>
          </a:xfrm>
          <a:prstGeom prst="ellipse">
            <a:avLst/>
          </a:prstGeom>
          <a:solidFill>
            <a:srgbClr val="1B3550"/>
          </a:solidFill>
          <a:ln w="19050" cap="flat" cmpd="sng">
            <a:solidFill>
              <a:srgbClr val="AFC4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640080" y="822960"/>
            <a:ext cx="10607040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Cambria"/>
              <a:buNone/>
            </a:pPr>
            <a:r>
              <a:rPr lang="en-US" sz="3300" b="1" i="0" u="none" strike="noStrike" cap="none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Multi-Agent Debate Framework</a:t>
            </a:r>
            <a:br>
              <a:rPr lang="en-US" sz="3300" b="1" i="0" u="none" strike="noStrike" cap="none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en-US" sz="3300" b="1" i="0" u="none" strike="noStrike" cap="none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using Evidence Disagreement Triggering</a:t>
            </a:r>
            <a:br>
              <a:rPr lang="en-US" sz="3300" b="1" i="0" u="none" strike="noStrike" cap="none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en-US" sz="3300" b="1" i="0" u="none" strike="noStrike" cap="none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and Conflict-Type Classification</a:t>
            </a:r>
            <a:endParaRPr sz="3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640080" y="4092278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FC4D6"/>
              </a:buClr>
              <a:buSzPts val="1200"/>
              <a:buFont typeface="Calibri"/>
              <a:buNone/>
            </a:pPr>
            <a:r>
              <a:rPr lang="en-US" sz="1800" b="1" i="0" u="none" strike="noStrike" cap="none" dirty="0">
                <a:solidFill>
                  <a:srgbClr val="AFC4D6"/>
                </a:solidFill>
                <a:latin typeface="Calibri"/>
                <a:ea typeface="Calibri"/>
                <a:cs typeface="Calibri"/>
                <a:sym typeface="Calibri"/>
              </a:rPr>
              <a:t>TEAM MEMBERS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670560" y="4599771"/>
            <a:ext cx="54864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E9F0F6"/>
              </a:buClr>
              <a:buSzPts val="1500"/>
            </a:pPr>
            <a:r>
              <a:rPr lang="en-US" sz="1600" b="0" i="0" u="none" strike="noStrike" cap="none" dirty="0">
                <a:solidFill>
                  <a:srgbClr val="E9F0F6"/>
                </a:solidFill>
                <a:latin typeface="Calibri"/>
                <a:ea typeface="Calibri"/>
                <a:cs typeface="Calibri"/>
                <a:sym typeface="Calibri"/>
              </a:rPr>
              <a:t>1. M</a:t>
            </a:r>
            <a:r>
              <a:rPr lang="en-US" sz="1600" dirty="0">
                <a:solidFill>
                  <a:srgbClr val="E9F0F6"/>
                </a:solidFill>
                <a:latin typeface="Calibri"/>
                <a:ea typeface="Calibri"/>
                <a:cs typeface="Calibri"/>
                <a:sym typeface="Calibri"/>
              </a:rPr>
              <a:t>. Reddy Sasi Kiran      – </a:t>
            </a:r>
            <a:r>
              <a:rPr lang="en-US" sz="1600" b="0" i="0" u="none" strike="noStrike" cap="none" dirty="0">
                <a:solidFill>
                  <a:srgbClr val="E9F0F6"/>
                </a:solidFill>
                <a:latin typeface="Calibri"/>
                <a:ea typeface="Calibri"/>
                <a:cs typeface="Calibri"/>
                <a:sym typeface="Calibri"/>
              </a:rPr>
              <a:t>23BAI1188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670560" y="4983819"/>
            <a:ext cx="54864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E9F0F6"/>
              </a:buClr>
              <a:buSzPts val="1500"/>
            </a:pPr>
            <a:r>
              <a:rPr lang="en-US" sz="1600" b="0" i="0" u="none" strike="noStrike" cap="none" dirty="0">
                <a:solidFill>
                  <a:srgbClr val="E9F0F6"/>
                </a:solidFill>
                <a:latin typeface="Calibri"/>
                <a:ea typeface="Calibri"/>
                <a:cs typeface="Calibri"/>
                <a:sym typeface="Calibri"/>
              </a:rPr>
              <a:t>2.  Suhas</a:t>
            </a:r>
            <a:r>
              <a:rPr lang="en-US" sz="1600" dirty="0">
                <a:solidFill>
                  <a:srgbClr val="E9F0F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 dirty="0" err="1">
                <a:solidFill>
                  <a:srgbClr val="E9F0F6"/>
                </a:solidFill>
                <a:latin typeface="Calibri"/>
                <a:ea typeface="Calibri"/>
                <a:cs typeface="Calibri"/>
                <a:sym typeface="Calibri"/>
              </a:rPr>
              <a:t>Koheda</a:t>
            </a:r>
            <a:r>
              <a:rPr lang="en-US" sz="1600" dirty="0">
                <a:solidFill>
                  <a:srgbClr val="E9F0F6"/>
                </a:solidFill>
                <a:latin typeface="Calibri"/>
                <a:ea typeface="Calibri"/>
                <a:cs typeface="Calibri"/>
                <a:sym typeface="Calibri"/>
              </a:rPr>
              <a:t>               –</a:t>
            </a:r>
            <a:r>
              <a:rPr lang="en-US" sz="1600" b="0" i="0" u="none" strike="noStrike" cap="none" dirty="0">
                <a:solidFill>
                  <a:srgbClr val="E9F0F6"/>
                </a:solidFill>
                <a:latin typeface="Calibri"/>
                <a:ea typeface="Calibri"/>
                <a:cs typeface="Calibri"/>
                <a:sym typeface="Calibri"/>
              </a:rPr>
              <a:t> 23BAI1147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670560" y="5367867"/>
            <a:ext cx="54864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E9F0F6"/>
              </a:buClr>
              <a:buSzPts val="1500"/>
            </a:pPr>
            <a:r>
              <a:rPr lang="en-US" sz="1600" b="0" i="0" u="none" strike="noStrike" cap="none" dirty="0">
                <a:solidFill>
                  <a:srgbClr val="E9F0F6"/>
                </a:solidFill>
                <a:latin typeface="Calibri"/>
                <a:ea typeface="Calibri"/>
                <a:cs typeface="Calibri"/>
                <a:sym typeface="Calibri"/>
              </a:rPr>
              <a:t>3.  C R Suhas                       </a:t>
            </a:r>
            <a:r>
              <a:rPr lang="en-US" sz="1600" dirty="0">
                <a:solidFill>
                  <a:srgbClr val="E9F0F6"/>
                </a:solidFill>
                <a:latin typeface="Calibri"/>
                <a:ea typeface="Calibri"/>
                <a:cs typeface="Calibri"/>
                <a:sym typeface="Calibri"/>
              </a:rPr>
              <a:t>– </a:t>
            </a:r>
            <a:r>
              <a:rPr lang="en-US" sz="1600" b="0" i="0" u="none" strike="noStrike" cap="none" dirty="0">
                <a:solidFill>
                  <a:srgbClr val="E9F0F6"/>
                </a:solidFill>
                <a:latin typeface="Calibri"/>
                <a:ea typeface="Calibri"/>
                <a:cs typeface="Calibri"/>
                <a:sym typeface="Calibri"/>
              </a:rPr>
              <a:t> 23BAI1187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/>
          <p:nvPr/>
        </p:nvSpPr>
        <p:spPr>
          <a:xfrm>
            <a:off x="457200" y="29260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5F2D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8C5F2D"/>
                </a:solidFill>
                <a:latin typeface="Calibri"/>
                <a:ea typeface="Calibri"/>
                <a:cs typeface="Calibri"/>
                <a:sym typeface="Calibri"/>
              </a:rPr>
              <a:t>BACKGROUND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57200" y="530352"/>
            <a:ext cx="1127455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3550"/>
              </a:buClr>
              <a:buSzPts val="2700"/>
              <a:buFont typeface="Cambria"/>
              <a:buNone/>
            </a:pPr>
            <a:r>
              <a:rPr lang="en-US" sz="2700" b="1" i="0" u="none" strike="noStrike" cap="none">
                <a:solidFill>
                  <a:srgbClr val="1B3550"/>
                </a:solidFill>
                <a:latin typeface="Cambria"/>
                <a:ea typeface="Cambria"/>
                <a:cs typeface="Cambria"/>
                <a:sym typeface="Cambria"/>
              </a:rPr>
              <a:t>Knowledge on Domain &amp; Problem Statement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457200" y="123444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3550"/>
              </a:buClr>
              <a:buSzPts val="1700"/>
              <a:buFont typeface="Cambria"/>
              <a:buNone/>
            </a:pPr>
            <a:r>
              <a:rPr lang="en-US" sz="1700" b="1" i="0" u="none" strike="noStrike" cap="none">
                <a:solidFill>
                  <a:srgbClr val="1B3550"/>
                </a:solidFill>
                <a:latin typeface="Cambria"/>
                <a:ea typeface="Cambria"/>
                <a:cs typeface="Cambria"/>
                <a:sym typeface="Cambria"/>
              </a:rPr>
              <a:t>Domain Overview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66344" y="1810512"/>
            <a:ext cx="566928" cy="566928"/>
          </a:xfrm>
          <a:prstGeom prst="ellipse">
            <a:avLst/>
          </a:prstGeom>
          <a:solidFill>
            <a:srgbClr val="4F7398"/>
          </a:solidFill>
          <a:ln>
            <a:noFill/>
          </a:ln>
          <a:effectLst>
            <a:outerShdw blurRad="50800" dist="12700" dir="54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466344" y="1810512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1143000" y="1783080"/>
            <a:ext cx="47091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3550"/>
              </a:buClr>
              <a:buSzPts val="1350"/>
              <a:buFont typeface="Calibri"/>
              <a:buNone/>
            </a:pPr>
            <a:r>
              <a:rPr lang="en-US" b="1" i="0" u="none" strike="noStrike" cap="none">
                <a:solidFill>
                  <a:srgbClr val="1B3550"/>
                </a:solidFill>
                <a:latin typeface="Calibri"/>
                <a:ea typeface="Calibri"/>
                <a:cs typeface="Calibri"/>
                <a:sym typeface="Calibri"/>
              </a:rPr>
              <a:t>Large Language Models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1143000" y="2084832"/>
            <a:ext cx="47091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6313B"/>
              </a:buClr>
              <a:buSzPts val="1100"/>
              <a:buFont typeface="Calibri"/>
              <a:buNone/>
            </a:pPr>
            <a:r>
              <a:rPr lang="en-US" b="0" i="0" u="none" strike="noStrike" cap="none" dirty="0">
                <a:solidFill>
                  <a:srgbClr val="26313B"/>
                </a:solidFill>
                <a:latin typeface="Calibri"/>
                <a:ea typeface="Calibri"/>
                <a:cs typeface="Calibri"/>
                <a:sym typeface="Calibri"/>
              </a:rPr>
              <a:t>Strong at reasoning and question-answering, but can hallucinate or state wrong facts with confidence.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66344" y="3227832"/>
            <a:ext cx="566928" cy="566928"/>
          </a:xfrm>
          <a:prstGeom prst="ellipse">
            <a:avLst/>
          </a:prstGeom>
          <a:solidFill>
            <a:srgbClr val="4F7398"/>
          </a:solidFill>
          <a:ln>
            <a:noFill/>
          </a:ln>
          <a:effectLst>
            <a:outerShdw blurRad="50800" dist="12700" dir="54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466344" y="3227832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RAG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1143000" y="3200400"/>
            <a:ext cx="47091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3550"/>
              </a:buClr>
              <a:buSzPts val="1350"/>
              <a:buFont typeface="Calibri"/>
              <a:buNone/>
            </a:pPr>
            <a:r>
              <a:rPr lang="en-US" b="1" i="0" u="none" strike="noStrike" cap="none">
                <a:solidFill>
                  <a:srgbClr val="1B3550"/>
                </a:solidFill>
                <a:latin typeface="Calibri"/>
                <a:ea typeface="Calibri"/>
                <a:cs typeface="Calibri"/>
                <a:sym typeface="Calibri"/>
              </a:rPr>
              <a:t>Retrieval-Augmented Generation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1143000" y="3502152"/>
            <a:ext cx="47091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6313B"/>
              </a:buClr>
              <a:buSzPts val="1100"/>
              <a:buFont typeface="Calibri"/>
              <a:buNone/>
            </a:pPr>
            <a:r>
              <a:rPr lang="en-US" b="0" i="0" u="none" strike="noStrike" cap="none">
                <a:solidFill>
                  <a:srgbClr val="26313B"/>
                </a:solidFill>
                <a:latin typeface="Calibri"/>
                <a:ea typeface="Calibri"/>
                <a:cs typeface="Calibri"/>
                <a:sym typeface="Calibri"/>
              </a:rPr>
              <a:t>Grounds answers in retrieved documents — but different sources often disagree with each other.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466344" y="4645152"/>
            <a:ext cx="566928" cy="566928"/>
          </a:xfrm>
          <a:prstGeom prst="ellipse">
            <a:avLst/>
          </a:prstGeom>
          <a:solidFill>
            <a:srgbClr val="4F7398"/>
          </a:solidFill>
          <a:ln>
            <a:noFill/>
          </a:ln>
          <a:effectLst>
            <a:outerShdw blurRad="50800" dist="12700" dir="54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466344" y="4645152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MAD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1143000" y="4617720"/>
            <a:ext cx="47091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3550"/>
              </a:buClr>
              <a:buSzPts val="1350"/>
              <a:buFont typeface="Calibri"/>
              <a:buNone/>
            </a:pPr>
            <a:r>
              <a:rPr lang="en-US" b="1" i="0" u="none" strike="noStrike" cap="none">
                <a:solidFill>
                  <a:srgbClr val="1B3550"/>
                </a:solidFill>
                <a:latin typeface="Calibri"/>
                <a:ea typeface="Calibri"/>
                <a:cs typeface="Calibri"/>
                <a:sym typeface="Calibri"/>
              </a:rPr>
              <a:t>Multi-Agent Debate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143000" y="4919472"/>
            <a:ext cx="47091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6313B"/>
              </a:buClr>
              <a:buSzPts val="1100"/>
              <a:buFont typeface="Calibri"/>
              <a:buNone/>
            </a:pPr>
            <a:r>
              <a:rPr lang="en-US" b="0" i="0" u="none" strike="noStrike" cap="none">
                <a:solidFill>
                  <a:srgbClr val="26313B"/>
                </a:solidFill>
                <a:latin typeface="Calibri"/>
                <a:ea typeface="Calibri"/>
                <a:cs typeface="Calibri"/>
                <a:sym typeface="Calibri"/>
              </a:rPr>
              <a:t>Several LLM agents propose, critique, and revise answers together to reach a better final answer.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6309360" y="1234440"/>
            <a:ext cx="5422392" cy="4709160"/>
          </a:xfrm>
          <a:prstGeom prst="roundRect">
            <a:avLst>
              <a:gd name="adj" fmla="val 1553"/>
            </a:avLst>
          </a:prstGeom>
          <a:solidFill>
            <a:srgbClr val="F4F8FB"/>
          </a:solidFill>
          <a:ln w="12700" cap="flat" cmpd="sng">
            <a:solidFill>
              <a:srgbClr val="AFC4D6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B355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6629400" y="1481328"/>
            <a:ext cx="478231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3550"/>
              </a:buClr>
              <a:buSzPts val="1700"/>
              <a:buFont typeface="Cambria"/>
              <a:buNone/>
            </a:pPr>
            <a:r>
              <a:rPr lang="en-US" sz="1700" b="1" i="0" u="none" strike="noStrike" cap="none">
                <a:solidFill>
                  <a:srgbClr val="1B3550"/>
                </a:solidFill>
                <a:latin typeface="Cambria"/>
                <a:ea typeface="Cambria"/>
                <a:cs typeface="Cambria"/>
                <a:sym typeface="Cambria"/>
              </a:rPr>
              <a:t>Problem Statement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6629400" y="2130552"/>
            <a:ext cx="82296" cy="82296"/>
          </a:xfrm>
          <a:prstGeom prst="ellipse">
            <a:avLst/>
          </a:prstGeom>
          <a:solidFill>
            <a:srgbClr val="B079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6876288" y="2002536"/>
            <a:ext cx="4507992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6313B"/>
              </a:buClr>
              <a:buSzPts val="1200"/>
              <a:buFont typeface="Calibri"/>
              <a:buNone/>
            </a:pPr>
            <a:r>
              <a:rPr lang="en-US" b="0" i="0" u="none" strike="noStrike" cap="none">
                <a:solidFill>
                  <a:srgbClr val="26313B"/>
                </a:solidFill>
                <a:latin typeface="Calibri"/>
                <a:ea typeface="Calibri"/>
                <a:cs typeface="Calibri"/>
                <a:sym typeface="Calibri"/>
              </a:rPr>
              <a:t>Standard multi-agent debate runs for every query — even when independently retrieved evidence already agrees — wasting rounds and compute.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6629400" y="2971800"/>
            <a:ext cx="82296" cy="82296"/>
          </a:xfrm>
          <a:prstGeom prst="ellipse">
            <a:avLst/>
          </a:prstGeom>
          <a:solidFill>
            <a:srgbClr val="B079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6876288" y="2843784"/>
            <a:ext cx="4507992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6313B"/>
              </a:buClr>
              <a:buSzPts val="1200"/>
              <a:buFont typeface="Calibri"/>
              <a:buNone/>
            </a:pPr>
            <a:r>
              <a:rPr lang="en-US" b="0" i="0" u="none" strike="noStrike" cap="none">
                <a:solidFill>
                  <a:srgbClr val="26313B"/>
                </a:solidFill>
                <a:latin typeface="Calibri"/>
                <a:ea typeface="Calibri"/>
                <a:cs typeface="Calibri"/>
                <a:sym typeface="Calibri"/>
              </a:rPr>
              <a:t>The same debate strategy is applied no matter why sources disagree (factual error, outdated data, version mismatch, or context).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6629400" y="3813048"/>
            <a:ext cx="82296" cy="82296"/>
          </a:xfrm>
          <a:prstGeom prst="ellipse">
            <a:avLst/>
          </a:prstGeom>
          <a:solidFill>
            <a:srgbClr val="B079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6876288" y="3685032"/>
            <a:ext cx="4507992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6313B"/>
              </a:buClr>
              <a:buSzPts val="1200"/>
              <a:buFont typeface="Calibri"/>
              <a:buNone/>
            </a:pPr>
            <a:r>
              <a:rPr lang="en-US" b="0" i="0" u="none" strike="noStrike" cap="none">
                <a:solidFill>
                  <a:srgbClr val="26313B"/>
                </a:solidFill>
                <a:latin typeface="Calibri"/>
                <a:ea typeface="Calibri"/>
                <a:cs typeface="Calibri"/>
                <a:sym typeface="Calibri"/>
              </a:rPr>
              <a:t>Result: an inefficient, one-size-fits-all approach to resolving evidence conflicts.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6583680" y="5074920"/>
            <a:ext cx="4873752" cy="713232"/>
          </a:xfrm>
          <a:prstGeom prst="roundRect">
            <a:avLst>
              <a:gd name="adj" fmla="val 10256"/>
            </a:avLst>
          </a:prstGeom>
          <a:solidFill>
            <a:srgbClr val="1B35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6766560" y="5074920"/>
            <a:ext cx="4507992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1E1C9"/>
              </a:buClr>
              <a:buSzPts val="1200"/>
              <a:buFont typeface="Calibri"/>
              <a:buNone/>
            </a:pPr>
            <a:r>
              <a:rPr lang="en-US" b="1" i="0" u="none" strike="noStrike" cap="none">
                <a:solidFill>
                  <a:srgbClr val="F1E1C9"/>
                </a:solidFill>
                <a:latin typeface="Calibri"/>
                <a:ea typeface="Calibri"/>
                <a:cs typeface="Calibri"/>
                <a:sym typeface="Calibri"/>
              </a:rPr>
              <a:t>Goal:  </a:t>
            </a:r>
            <a:r>
              <a:rPr lang="en-US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Trigger debate only on genuine evidence disagreement, and adapt the strategy to the type of conflict.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"/>
          <p:cNvSpPr/>
          <p:nvPr/>
        </p:nvSpPr>
        <p:spPr>
          <a:xfrm>
            <a:off x="457200" y="29260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5F2D"/>
              </a:buClr>
              <a:buSzPts val="1150"/>
              <a:buFont typeface="Calibri"/>
              <a:buNone/>
            </a:pPr>
            <a:r>
              <a:rPr sz="1300" b="1" i="0" dirty="0">
                <a:solidFill>
                  <a:schemeClr val="accent2">
                    <a:lumMod val="50000"/>
                  </a:schemeClr>
                </a:solidFill>
                <a:latin typeface="Calibri"/>
              </a:rPr>
              <a:t>LITERATURE REVIEW — PART I</a:t>
            </a:r>
            <a:endParaRPr sz="1150" b="0" i="0" u="none" strike="noStrike" cap="none" dirty="0">
              <a:solidFill>
                <a:schemeClr val="accent2">
                  <a:lumMod val="5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457200" y="530352"/>
            <a:ext cx="1127455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3550"/>
              </a:buClr>
              <a:buSzPts val="2700"/>
              <a:buFont typeface="Cambria"/>
              <a:buNone/>
            </a:pPr>
            <a:r>
              <a:rPr sz="2800" b="1" i="0" dirty="0">
                <a:latin typeface="Cambria" panose="02040503050406030204" pitchFamily="18" charset="0"/>
                <a:ea typeface="Cambria" panose="02040503050406030204" pitchFamily="18" charset="0"/>
              </a:rPr>
              <a:t>Multi-Agent Debate (MAD) Frameworks</a:t>
            </a:r>
            <a:endParaRPr sz="2800" b="0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457200" y="1298448"/>
            <a:ext cx="5440680" cy="2359152"/>
          </a:xfrm>
          <a:prstGeom prst="roundRect">
            <a:avLst>
              <a:gd name="adj" fmla="val 3101"/>
            </a:avLst>
          </a:prstGeom>
          <a:solidFill>
            <a:srgbClr val="F4F8FB"/>
          </a:solidFill>
          <a:ln w="12700" cap="flat" cmpd="sng">
            <a:solidFill>
              <a:srgbClr val="AFC4D6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B355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/>
          </a:p>
        </p:txBody>
      </p:sp>
      <p:sp>
        <p:nvSpPr>
          <p:cNvPr id="67" name="Google Shape;67;p5"/>
          <p:cNvSpPr/>
          <p:nvPr/>
        </p:nvSpPr>
        <p:spPr>
          <a:xfrm>
            <a:off x="585216" y="1426464"/>
            <a:ext cx="402336" cy="402336"/>
          </a:xfrm>
          <a:prstGeom prst="ellipse">
            <a:avLst/>
          </a:prstGeom>
          <a:solidFill>
            <a:srgbClr val="B0793F"/>
          </a:solidFill>
          <a:ln>
            <a:noFill/>
          </a:ln>
          <a:effectLst>
            <a:outerShdw blurRad="50800" dist="12700" dir="54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/>
          </a:p>
        </p:txBody>
      </p:sp>
      <p:sp>
        <p:nvSpPr>
          <p:cNvPr id="68" name="Google Shape;68;p5"/>
          <p:cNvSpPr/>
          <p:nvPr/>
        </p:nvSpPr>
        <p:spPr>
          <a:xfrm>
            <a:off x="585216" y="1426464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sz="1300" b="1" i="0" dirty="0">
                <a:solidFill>
                  <a:schemeClr val="bg1"/>
                </a:solidFill>
                <a:latin typeface="Calibri"/>
              </a:rPr>
              <a:t>1</a:t>
            </a:r>
            <a:endParaRPr sz="13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1078992" y="1408176"/>
            <a:ext cx="45720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550"/>
              </a:buClr>
              <a:buSzPts val="1350"/>
              <a:buFont typeface="Calibri"/>
              <a:buNone/>
            </a:pPr>
            <a:r>
              <a:rPr sz="1180" b="1" i="0">
                <a:latin typeface="Calibri"/>
              </a:rPr>
              <a:t>ReConcile — Round-Table Conference Improves Reasoning via Consensus among Diverse LLMs (2024)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1078992" y="1755648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0808F"/>
              </a:buClr>
              <a:buSzPts val="950"/>
              <a:buFont typeface="Calibri"/>
              <a:buNone/>
            </a:pPr>
            <a:r>
              <a:rPr sz="1050" b="0" i="1">
                <a:latin typeface="Calibri"/>
              </a:rPr>
              <a:t>Chen et al. · ACL 2024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713232" y="2121408"/>
            <a:ext cx="4928616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4F7398"/>
              </a:buClr>
              <a:buSzPts val="1050"/>
              <a:buFont typeface="Calibri"/>
              <a:buNone/>
            </a:pPr>
            <a:r>
              <a:rPr sz="1180" b="1" i="0" dirty="0">
                <a:latin typeface="Calibri"/>
              </a:rPr>
              <a:t>Key methodology</a:t>
            </a:r>
            <a:r>
              <a:rPr sz="1180" i="0" dirty="0">
                <a:latin typeface="Calibri"/>
              </a:rPr>
              <a:t>: Multiple diverse LLMs debate in a round-table setting; self-reported confidence supports confidence-weighted voting and consensus.</a:t>
            </a:r>
            <a:endParaRPr sz="13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713232" y="2962656"/>
            <a:ext cx="4928616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5F2D"/>
              </a:buClr>
              <a:buSzPts val="1000"/>
              <a:buFont typeface="Calibri"/>
              <a:buNone/>
            </a:pPr>
            <a:r>
              <a:rPr sz="1180" b="1" i="0" dirty="0">
                <a:latin typeface="Calibri"/>
              </a:rPr>
              <a:t>Limitation</a:t>
            </a:r>
            <a:r>
              <a:rPr sz="1180" i="0" dirty="0">
                <a:latin typeface="Calibri"/>
              </a:rPr>
              <a:t>: No external retrieval/evidence; debate is unconditional and not triggered by evidence disagreement.</a:t>
            </a:r>
            <a:endParaRPr sz="13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6291072" y="1298448"/>
            <a:ext cx="5440680" cy="2359152"/>
          </a:xfrm>
          <a:prstGeom prst="roundRect">
            <a:avLst>
              <a:gd name="adj" fmla="val 3101"/>
            </a:avLst>
          </a:prstGeom>
          <a:solidFill>
            <a:srgbClr val="F4F8FB"/>
          </a:solidFill>
          <a:ln w="12700" cap="flat" cmpd="sng">
            <a:solidFill>
              <a:srgbClr val="AFC4D6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B355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/>
          </a:p>
        </p:txBody>
      </p:sp>
      <p:sp>
        <p:nvSpPr>
          <p:cNvPr id="74" name="Google Shape;74;p5"/>
          <p:cNvSpPr/>
          <p:nvPr/>
        </p:nvSpPr>
        <p:spPr>
          <a:xfrm>
            <a:off x="6419088" y="1426464"/>
            <a:ext cx="402336" cy="402336"/>
          </a:xfrm>
          <a:prstGeom prst="ellipse">
            <a:avLst/>
          </a:prstGeom>
          <a:solidFill>
            <a:srgbClr val="B0793F"/>
          </a:solidFill>
          <a:ln>
            <a:noFill/>
          </a:ln>
          <a:effectLst>
            <a:outerShdw blurRad="50800" dist="12700" dir="54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/>
          </a:p>
        </p:txBody>
      </p:sp>
      <p:sp>
        <p:nvSpPr>
          <p:cNvPr id="75" name="Google Shape;75;p5"/>
          <p:cNvSpPr/>
          <p:nvPr/>
        </p:nvSpPr>
        <p:spPr>
          <a:xfrm>
            <a:off x="6419088" y="1426464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sz="1300" b="1" i="0" dirty="0">
                <a:solidFill>
                  <a:schemeClr val="bg1"/>
                </a:solidFill>
                <a:latin typeface="Calibri"/>
              </a:rPr>
              <a:t>2</a:t>
            </a:r>
            <a:endParaRPr sz="13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6912864" y="1408176"/>
            <a:ext cx="45720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550"/>
              </a:buClr>
              <a:buSzPts val="1350"/>
              <a:buFont typeface="Calibri"/>
              <a:buNone/>
            </a:pPr>
            <a:r>
              <a:rPr sz="1120" b="1" i="0">
                <a:latin typeface="Calibri"/>
              </a:rPr>
              <a:t>Improving Factuality and Reasoning through Multiagent Debate — Improving Factuality and Reasoning in Language Models through Multiagent Debate (2024)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6912864" y="1755648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0808F"/>
              </a:buClr>
              <a:buSzPts val="950"/>
              <a:buFont typeface="Calibri"/>
              <a:buNone/>
            </a:pPr>
            <a:r>
              <a:rPr sz="1050" b="0" i="1">
                <a:latin typeface="Calibri"/>
              </a:rPr>
              <a:t>Du et al. · ICML 2024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6547104" y="2121408"/>
            <a:ext cx="4928616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4F7398"/>
              </a:buClr>
              <a:buSzPts val="1050"/>
              <a:buFont typeface="Calibri"/>
              <a:buNone/>
            </a:pPr>
            <a:r>
              <a:rPr sz="1180" b="1" i="0" dirty="0">
                <a:latin typeface="Calibri"/>
              </a:rPr>
              <a:t>Key methodology</a:t>
            </a:r>
            <a:r>
              <a:rPr sz="1180" i="0" dirty="0">
                <a:latin typeface="Calibri"/>
              </a:rPr>
              <a:t>: A “society of minds” where multiple LLM instances generate, critique, and revise answers over fixed debate rounds.</a:t>
            </a:r>
            <a:endParaRPr sz="13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6547104" y="2962656"/>
            <a:ext cx="4928616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5F2D"/>
              </a:buClr>
              <a:buSzPts val="1000"/>
              <a:buFont typeface="Calibri"/>
              <a:buNone/>
            </a:pPr>
            <a:r>
              <a:rPr sz="1180" b="1" i="0" dirty="0">
                <a:latin typeface="Calibri"/>
              </a:rPr>
              <a:t>Limitation</a:t>
            </a:r>
            <a:r>
              <a:rPr sz="1180" i="0" dirty="0">
                <a:latin typeface="Calibri"/>
              </a:rPr>
              <a:t>: No external tools or retrieved evidence; no disagreement gate or conflict-type classification.</a:t>
            </a:r>
            <a:endParaRPr sz="13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457200" y="4023360"/>
            <a:ext cx="5440680" cy="2359152"/>
          </a:xfrm>
          <a:prstGeom prst="roundRect">
            <a:avLst>
              <a:gd name="adj" fmla="val 3101"/>
            </a:avLst>
          </a:prstGeom>
          <a:solidFill>
            <a:srgbClr val="F4F8FB"/>
          </a:solidFill>
          <a:ln w="12700" cap="flat" cmpd="sng">
            <a:solidFill>
              <a:srgbClr val="AFC4D6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B355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/>
          </a:p>
        </p:txBody>
      </p:sp>
      <p:sp>
        <p:nvSpPr>
          <p:cNvPr id="81" name="Google Shape;81;p5"/>
          <p:cNvSpPr/>
          <p:nvPr/>
        </p:nvSpPr>
        <p:spPr>
          <a:xfrm>
            <a:off x="585216" y="4151376"/>
            <a:ext cx="402336" cy="402336"/>
          </a:xfrm>
          <a:prstGeom prst="ellipse">
            <a:avLst/>
          </a:prstGeom>
          <a:solidFill>
            <a:srgbClr val="B0793F"/>
          </a:solidFill>
          <a:ln>
            <a:noFill/>
          </a:ln>
          <a:effectLst>
            <a:outerShdw blurRad="50800" dist="12700" dir="54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/>
          </a:p>
        </p:txBody>
      </p:sp>
      <p:sp>
        <p:nvSpPr>
          <p:cNvPr id="82" name="Google Shape;82;p5"/>
          <p:cNvSpPr/>
          <p:nvPr/>
        </p:nvSpPr>
        <p:spPr>
          <a:xfrm>
            <a:off x="585216" y="4151376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sz="1300" b="1" i="0" dirty="0">
                <a:solidFill>
                  <a:schemeClr val="bg1"/>
                </a:solidFill>
                <a:latin typeface="Calibri"/>
              </a:rPr>
              <a:t>3</a:t>
            </a:r>
            <a:endParaRPr sz="13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1078992" y="4133088"/>
            <a:ext cx="45720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550"/>
              </a:buClr>
              <a:buSzPts val="1350"/>
              <a:buFont typeface="Calibri"/>
              <a:buNone/>
            </a:pPr>
            <a:r>
              <a:rPr sz="1180" b="1" i="0">
                <a:latin typeface="Calibri"/>
              </a:rPr>
              <a:t>DoT — Encouraging Divergent Thinking in Large Language Models through Multi-Agent Debate (2024)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1078992" y="4480560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0808F"/>
              </a:buClr>
              <a:buSzPts val="950"/>
              <a:buFont typeface="Calibri"/>
              <a:buNone/>
            </a:pPr>
            <a:r>
              <a:rPr sz="1050" b="0" i="1">
                <a:latin typeface="Calibri"/>
              </a:rPr>
              <a:t>Liang et al. · EMNLP 2024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713232" y="4846320"/>
            <a:ext cx="4928616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4F7398"/>
              </a:buClr>
              <a:buSzPts val="1050"/>
              <a:buFont typeface="Calibri"/>
              <a:buNone/>
            </a:pPr>
            <a:r>
              <a:rPr sz="1180" b="1" i="0" dirty="0">
                <a:latin typeface="Calibri"/>
              </a:rPr>
              <a:t>Key methodology</a:t>
            </a:r>
            <a:r>
              <a:rPr sz="1180" i="0" dirty="0">
                <a:latin typeface="Calibri"/>
              </a:rPr>
              <a:t>: Tit-for-tat multi-agent debate with a judge that adaptively decides when the debate should stop.</a:t>
            </a:r>
            <a:endParaRPr sz="13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713232" y="5687568"/>
            <a:ext cx="4928616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5F2D"/>
              </a:buClr>
              <a:buSzPts val="1000"/>
              <a:buFont typeface="Calibri"/>
              <a:buNone/>
            </a:pPr>
            <a:r>
              <a:rPr sz="1180" b="1" i="0" dirty="0">
                <a:latin typeface="Calibri"/>
              </a:rPr>
              <a:t>Limitation</a:t>
            </a:r>
            <a:r>
              <a:rPr sz="1180" i="0" dirty="0">
                <a:latin typeface="Calibri"/>
              </a:rPr>
              <a:t>: Adapts the stopping point, not whether debate should start; no external evidence or conflict-type routing.</a:t>
            </a:r>
            <a:endParaRPr sz="13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6291072" y="4023360"/>
            <a:ext cx="5440680" cy="2359152"/>
          </a:xfrm>
          <a:prstGeom prst="roundRect">
            <a:avLst>
              <a:gd name="adj" fmla="val 3101"/>
            </a:avLst>
          </a:prstGeom>
          <a:solidFill>
            <a:srgbClr val="F4F8FB"/>
          </a:solidFill>
          <a:ln w="12700" cap="flat" cmpd="sng">
            <a:solidFill>
              <a:srgbClr val="AFC4D6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B355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/>
          </a:p>
        </p:txBody>
      </p:sp>
      <p:sp>
        <p:nvSpPr>
          <p:cNvPr id="88" name="Google Shape;88;p5"/>
          <p:cNvSpPr/>
          <p:nvPr/>
        </p:nvSpPr>
        <p:spPr>
          <a:xfrm>
            <a:off x="6419088" y="4151376"/>
            <a:ext cx="402336" cy="402336"/>
          </a:xfrm>
          <a:prstGeom prst="ellipse">
            <a:avLst/>
          </a:prstGeom>
          <a:solidFill>
            <a:srgbClr val="B0793F"/>
          </a:solidFill>
          <a:ln>
            <a:noFill/>
          </a:ln>
          <a:effectLst>
            <a:outerShdw blurRad="50800" dist="12700" dir="54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/>
          </a:p>
        </p:txBody>
      </p:sp>
      <p:sp>
        <p:nvSpPr>
          <p:cNvPr id="89" name="Google Shape;89;p5"/>
          <p:cNvSpPr/>
          <p:nvPr/>
        </p:nvSpPr>
        <p:spPr>
          <a:xfrm>
            <a:off x="6419088" y="4151376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sz="1300" b="1" i="0" dirty="0">
                <a:solidFill>
                  <a:schemeClr val="bg1"/>
                </a:solidFill>
                <a:latin typeface="Calibri"/>
              </a:rPr>
              <a:t>4</a:t>
            </a:r>
            <a:endParaRPr sz="13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6912864" y="4133088"/>
            <a:ext cx="45720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550"/>
              </a:buClr>
              <a:buSzPts val="1350"/>
              <a:buFont typeface="Calibri"/>
              <a:buNone/>
            </a:pPr>
            <a:r>
              <a:rPr sz="1300" b="1" i="0">
                <a:latin typeface="Calibri"/>
              </a:rPr>
              <a:t>ChatEval — Towards Better LLM-based Evaluators through Multi-Agent Debate (2024)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6912864" y="4480560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0808F"/>
              </a:buClr>
              <a:buSzPts val="950"/>
              <a:buFont typeface="Calibri"/>
              <a:buNone/>
            </a:pPr>
            <a:r>
              <a:rPr sz="1050" b="0" i="1">
                <a:latin typeface="Calibri"/>
              </a:rPr>
              <a:t>Chan et al. · ICLR 2024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6547104" y="4846320"/>
            <a:ext cx="4928616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4F7398"/>
              </a:buClr>
              <a:buSzPts val="1050"/>
              <a:buFont typeface="Calibri"/>
              <a:buNone/>
            </a:pPr>
            <a:r>
              <a:rPr sz="1180" b="1" i="0" dirty="0">
                <a:latin typeface="Calibri"/>
              </a:rPr>
              <a:t>Key methodology</a:t>
            </a:r>
            <a:r>
              <a:rPr sz="1180" i="0" dirty="0">
                <a:latin typeface="Calibri"/>
              </a:rPr>
              <a:t>: A team of LLM referees with diverse personas discusses and evaluates generated text to improve evaluator quality.</a:t>
            </a:r>
            <a:endParaRPr sz="13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6547104" y="5687568"/>
            <a:ext cx="4928616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5F2D"/>
              </a:buClr>
              <a:buSzPts val="1000"/>
              <a:buFont typeface="Calibri"/>
              <a:buNone/>
            </a:pPr>
            <a:r>
              <a:rPr sz="1180" b="1" i="0" dirty="0">
                <a:latin typeface="Calibri"/>
              </a:rPr>
              <a:t>Limitation</a:t>
            </a:r>
            <a:r>
              <a:rPr sz="1180" i="0" dirty="0">
                <a:latin typeface="Calibri"/>
              </a:rPr>
              <a:t>: Focuses on evaluation rather than conflicting evidence; no retrieval, evidence gate, or conflict-type classification.</a:t>
            </a:r>
            <a:endParaRPr sz="13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"/>
          <p:cNvSpPr/>
          <p:nvPr/>
        </p:nvSpPr>
        <p:spPr>
          <a:xfrm>
            <a:off x="457200" y="29260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5F2D"/>
              </a:buClr>
              <a:buSzPts val="1150"/>
              <a:buFont typeface="Calibri"/>
              <a:buNone/>
            </a:pPr>
            <a:r>
              <a:rPr sz="1300" b="1" i="0" dirty="0">
                <a:solidFill>
                  <a:schemeClr val="accent2">
                    <a:lumMod val="50000"/>
                  </a:schemeClr>
                </a:solidFill>
                <a:latin typeface="Calibri"/>
              </a:rPr>
              <a:t>LITERATURE REVIEW — PART II</a:t>
            </a:r>
            <a:endParaRPr sz="1150" b="0" i="0" u="none" strike="noStrike" cap="none" dirty="0">
              <a:solidFill>
                <a:schemeClr val="accent2">
                  <a:lumMod val="5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457200" y="530352"/>
            <a:ext cx="1127455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3550"/>
              </a:buClr>
              <a:buSzPts val="2700"/>
              <a:buFont typeface="Cambria"/>
              <a:buNone/>
            </a:pPr>
            <a:r>
              <a:rPr sz="2800" b="1" i="0" dirty="0">
                <a:latin typeface="Cambria" panose="02040503050406030204" pitchFamily="18" charset="0"/>
                <a:ea typeface="Cambria" panose="02040503050406030204" pitchFamily="18" charset="0"/>
              </a:rPr>
              <a:t>Debate Trigger / Confidence / Scoring</a:t>
            </a:r>
            <a:endParaRPr sz="2800" b="0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457200" y="1298448"/>
            <a:ext cx="5440680" cy="2359152"/>
          </a:xfrm>
          <a:prstGeom prst="roundRect">
            <a:avLst>
              <a:gd name="adj" fmla="val 3101"/>
            </a:avLst>
          </a:prstGeom>
          <a:solidFill>
            <a:srgbClr val="F4F8FB"/>
          </a:solidFill>
          <a:ln w="12700" cap="flat" cmpd="sng">
            <a:solidFill>
              <a:srgbClr val="AFC4D6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B355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/>
          </a:p>
        </p:txBody>
      </p:sp>
      <p:sp>
        <p:nvSpPr>
          <p:cNvPr id="103" name="Google Shape;103;p6"/>
          <p:cNvSpPr/>
          <p:nvPr/>
        </p:nvSpPr>
        <p:spPr>
          <a:xfrm>
            <a:off x="585216" y="1426464"/>
            <a:ext cx="402336" cy="402336"/>
          </a:xfrm>
          <a:prstGeom prst="ellipse">
            <a:avLst/>
          </a:prstGeom>
          <a:solidFill>
            <a:srgbClr val="B0793F"/>
          </a:solidFill>
          <a:ln>
            <a:noFill/>
          </a:ln>
          <a:effectLst>
            <a:outerShdw blurRad="50800" dist="12700" dir="54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/>
          </a:p>
        </p:txBody>
      </p:sp>
      <p:sp>
        <p:nvSpPr>
          <p:cNvPr id="104" name="Google Shape;104;p6"/>
          <p:cNvSpPr/>
          <p:nvPr/>
        </p:nvSpPr>
        <p:spPr>
          <a:xfrm>
            <a:off x="585216" y="1426464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sz="1300" b="1" i="0" dirty="0">
                <a:solidFill>
                  <a:schemeClr val="bg1"/>
                </a:solidFill>
                <a:latin typeface="Calibri"/>
              </a:rPr>
              <a:t>5</a:t>
            </a:r>
            <a:endParaRPr sz="13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1078992" y="1408176"/>
            <a:ext cx="45720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550"/>
              </a:buClr>
              <a:buSzPts val="1350"/>
              <a:buFont typeface="Calibri"/>
              <a:buNone/>
            </a:pPr>
            <a:r>
              <a:rPr sz="1180" b="1" i="0">
                <a:latin typeface="Calibri"/>
              </a:rPr>
              <a:t>MADKE — Learning to Break: Knowledge-Enhanced Reasoning in Multi-Agent Debate System (2024)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1078992" y="1755648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0808F"/>
              </a:buClr>
              <a:buSzPts val="950"/>
              <a:buFont typeface="Calibri"/>
              <a:buNone/>
            </a:pPr>
            <a:r>
              <a:rPr sz="1050" b="0" i="1">
                <a:latin typeface="Calibri"/>
              </a:rPr>
              <a:t>Wang et al. · Neurocomputing 2024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713232" y="2121408"/>
            <a:ext cx="4928616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4F7398"/>
              </a:buClr>
              <a:buSzPts val="1050"/>
              <a:buFont typeface="Calibri"/>
              <a:buNone/>
            </a:pPr>
            <a:r>
              <a:rPr sz="1180" b="1" i="0" dirty="0">
                <a:latin typeface="Calibri"/>
              </a:rPr>
              <a:t>Key</a:t>
            </a:r>
            <a:r>
              <a:rPr sz="1180" i="0" dirty="0">
                <a:latin typeface="Calibri"/>
              </a:rPr>
              <a:t> </a:t>
            </a:r>
            <a:r>
              <a:rPr sz="1180" b="1" i="0" dirty="0">
                <a:latin typeface="Calibri"/>
              </a:rPr>
              <a:t>methodology</a:t>
            </a:r>
            <a:r>
              <a:rPr sz="1180" i="0" dirty="0">
                <a:latin typeface="Calibri"/>
              </a:rPr>
              <a:t>: Agents access a shared knowledge pool and decide per debate round whether external retrieval is needed.</a:t>
            </a:r>
            <a:endParaRPr sz="13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713232" y="2962656"/>
            <a:ext cx="4928616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5F2D"/>
              </a:buClr>
              <a:buSzPts val="1000"/>
              <a:buFont typeface="Calibri"/>
              <a:buNone/>
            </a:pPr>
            <a:r>
              <a:rPr sz="1180" b="1" i="0" dirty="0">
                <a:latin typeface="Calibri"/>
              </a:rPr>
              <a:t>Limitation</a:t>
            </a:r>
            <a:r>
              <a:rPr sz="1180" i="0" dirty="0">
                <a:latin typeface="Calibri"/>
              </a:rPr>
              <a:t>: Retrieval use is adaptive, but the debate itself always runs; no evidence-disagreement trigger.</a:t>
            </a:r>
            <a:endParaRPr sz="13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6291072" y="1298448"/>
            <a:ext cx="5440680" cy="2359152"/>
          </a:xfrm>
          <a:prstGeom prst="roundRect">
            <a:avLst>
              <a:gd name="adj" fmla="val 3101"/>
            </a:avLst>
          </a:prstGeom>
          <a:solidFill>
            <a:srgbClr val="F4F8FB"/>
          </a:solidFill>
          <a:ln w="12700" cap="flat" cmpd="sng">
            <a:solidFill>
              <a:srgbClr val="AFC4D6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B355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/>
          </a:p>
        </p:txBody>
      </p:sp>
      <p:sp>
        <p:nvSpPr>
          <p:cNvPr id="110" name="Google Shape;110;p6"/>
          <p:cNvSpPr/>
          <p:nvPr/>
        </p:nvSpPr>
        <p:spPr>
          <a:xfrm>
            <a:off x="6419088" y="1426464"/>
            <a:ext cx="402336" cy="402336"/>
          </a:xfrm>
          <a:prstGeom prst="ellipse">
            <a:avLst/>
          </a:prstGeom>
          <a:solidFill>
            <a:srgbClr val="B0793F"/>
          </a:solidFill>
          <a:ln>
            <a:noFill/>
          </a:ln>
          <a:effectLst>
            <a:outerShdw blurRad="50800" dist="12700" dir="54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/>
          </a:p>
        </p:txBody>
      </p:sp>
      <p:sp>
        <p:nvSpPr>
          <p:cNvPr id="111" name="Google Shape;111;p6"/>
          <p:cNvSpPr/>
          <p:nvPr/>
        </p:nvSpPr>
        <p:spPr>
          <a:xfrm>
            <a:off x="6419088" y="1426464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sz="1300" b="1" i="0" dirty="0">
                <a:solidFill>
                  <a:schemeClr val="bg1"/>
                </a:solidFill>
                <a:latin typeface="Calibri"/>
              </a:rPr>
              <a:t>6</a:t>
            </a:r>
            <a:endParaRPr sz="13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6912864" y="1408176"/>
            <a:ext cx="45720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550"/>
              </a:buClr>
              <a:buSzPts val="1350"/>
              <a:buFont typeface="Calibri"/>
              <a:buNone/>
            </a:pPr>
            <a:r>
              <a:rPr sz="1180" b="1" i="0">
                <a:latin typeface="Calibri"/>
              </a:rPr>
              <a:t>DOWN — Debate Only When Necessary: Adaptive Multiagent Collaboration for Efficient LLM Reasoning (2025)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6912864" y="1755648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0808F"/>
              </a:buClr>
              <a:buSzPts val="950"/>
              <a:buFont typeface="Calibri"/>
              <a:buNone/>
            </a:pPr>
            <a:r>
              <a:rPr sz="1050" b="0" i="1">
                <a:latin typeface="Calibri"/>
              </a:rPr>
              <a:t>Eo et al. · 2025 (preprint)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6547104" y="2121408"/>
            <a:ext cx="4928616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4F7398"/>
              </a:buClr>
              <a:buSzPts val="1050"/>
              <a:buFont typeface="Calibri"/>
              <a:buNone/>
            </a:pPr>
            <a:r>
              <a:rPr sz="1180" b="1" i="0" dirty="0">
                <a:latin typeface="Calibri"/>
              </a:rPr>
              <a:t>Key methodology</a:t>
            </a:r>
            <a:r>
              <a:rPr sz="1180" i="0" dirty="0">
                <a:latin typeface="Calibri"/>
              </a:rPr>
              <a:t>: Debate starts only when the agent’s initial answer confidence falls below a threshold; otherwise debate is skipped.</a:t>
            </a:r>
            <a:endParaRPr sz="13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6547104" y="2962656"/>
            <a:ext cx="4928616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5F2D"/>
              </a:buClr>
              <a:buSzPts val="1000"/>
              <a:buFont typeface="Calibri"/>
              <a:buNone/>
            </a:pPr>
            <a:r>
              <a:rPr sz="1300" b="1" i="0" dirty="0">
                <a:latin typeface="Calibri"/>
              </a:rPr>
              <a:t>Limitation</a:t>
            </a:r>
            <a:r>
              <a:rPr sz="1300" i="0" dirty="0">
                <a:latin typeface="Calibri"/>
              </a:rPr>
              <a:t>: Trigger uses internal model confidence, not disagreement in externally retrieved evidence.</a:t>
            </a:r>
            <a:endParaRPr sz="13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457200" y="4023360"/>
            <a:ext cx="5440680" cy="2359152"/>
          </a:xfrm>
          <a:prstGeom prst="roundRect">
            <a:avLst>
              <a:gd name="adj" fmla="val 3101"/>
            </a:avLst>
          </a:prstGeom>
          <a:solidFill>
            <a:srgbClr val="F4F8FB"/>
          </a:solidFill>
          <a:ln w="12700" cap="flat" cmpd="sng">
            <a:solidFill>
              <a:srgbClr val="AFC4D6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B355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/>
          </a:p>
        </p:txBody>
      </p:sp>
      <p:sp>
        <p:nvSpPr>
          <p:cNvPr id="117" name="Google Shape;117;p6"/>
          <p:cNvSpPr/>
          <p:nvPr/>
        </p:nvSpPr>
        <p:spPr>
          <a:xfrm>
            <a:off x="585216" y="4151376"/>
            <a:ext cx="402336" cy="402336"/>
          </a:xfrm>
          <a:prstGeom prst="ellipse">
            <a:avLst/>
          </a:prstGeom>
          <a:solidFill>
            <a:srgbClr val="B0793F"/>
          </a:solidFill>
          <a:ln>
            <a:noFill/>
          </a:ln>
          <a:effectLst>
            <a:outerShdw blurRad="50800" dist="12700" dir="54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/>
          </a:p>
        </p:txBody>
      </p:sp>
      <p:sp>
        <p:nvSpPr>
          <p:cNvPr id="118" name="Google Shape;118;p6"/>
          <p:cNvSpPr/>
          <p:nvPr/>
        </p:nvSpPr>
        <p:spPr>
          <a:xfrm>
            <a:off x="585216" y="4151376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sz="1300" b="1" i="0" dirty="0">
                <a:solidFill>
                  <a:schemeClr val="bg1"/>
                </a:solidFill>
                <a:latin typeface="Calibri"/>
              </a:rPr>
              <a:t>7</a:t>
            </a:r>
            <a:endParaRPr sz="13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1078992" y="4133088"/>
            <a:ext cx="45720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550"/>
              </a:buClr>
              <a:buSzPts val="1350"/>
              <a:buFont typeface="Calibri"/>
              <a:buNone/>
            </a:pPr>
            <a:r>
              <a:rPr sz="1120" b="1" i="0">
                <a:latin typeface="Calibri"/>
              </a:rPr>
              <a:t>Confidence Gating for Argument Relations — From Argument Components to Graphs: A Multi-Agent Debate with Confidence Gating for Argument Relations (2026)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1078992" y="4480560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0808F"/>
              </a:buClr>
              <a:buSzPts val="950"/>
              <a:buFont typeface="Calibri"/>
              <a:buNone/>
            </a:pPr>
            <a:r>
              <a:rPr sz="1050" b="0" i="1">
                <a:latin typeface="Calibri"/>
              </a:rPr>
              <a:t>Bąba &amp; Chudziak · 2026 (preprint)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713232" y="4846320"/>
            <a:ext cx="4928616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4F7398"/>
              </a:buClr>
              <a:buSzPts val="1050"/>
              <a:buFont typeface="Calibri"/>
              <a:buNone/>
            </a:pPr>
            <a:r>
              <a:rPr sz="1180" b="1" i="0" dirty="0">
                <a:latin typeface="Calibri"/>
              </a:rPr>
              <a:t>Key methodology</a:t>
            </a:r>
            <a:r>
              <a:rPr sz="1180" i="0" dirty="0">
                <a:latin typeface="Calibri"/>
              </a:rPr>
              <a:t>: A confidence-margin threshold restricts debate to low-confidence cases instead of debating every example.</a:t>
            </a:r>
            <a:endParaRPr sz="13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713232" y="5687568"/>
            <a:ext cx="4928616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5F2D"/>
              </a:buClr>
              <a:buSzPts val="1000"/>
              <a:buFont typeface="Calibri"/>
              <a:buNone/>
            </a:pPr>
            <a:r>
              <a:rPr sz="1180" b="1" i="0" dirty="0">
                <a:latin typeface="Calibri"/>
              </a:rPr>
              <a:t>Limitation</a:t>
            </a:r>
            <a:r>
              <a:rPr sz="1180" i="0" dirty="0">
                <a:latin typeface="Calibri"/>
              </a:rPr>
              <a:t>: Confidence-based rather than evidence-based; designed for argument-relation classification, not general evidence conflicts.</a:t>
            </a:r>
            <a:endParaRPr sz="13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6291072" y="4023360"/>
            <a:ext cx="5440680" cy="2359152"/>
          </a:xfrm>
          <a:prstGeom prst="roundRect">
            <a:avLst>
              <a:gd name="adj" fmla="val 3101"/>
            </a:avLst>
          </a:prstGeom>
          <a:solidFill>
            <a:srgbClr val="F4F8FB"/>
          </a:solidFill>
          <a:ln w="12700" cap="flat" cmpd="sng">
            <a:solidFill>
              <a:srgbClr val="AFC4D6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B355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/>
          </a:p>
        </p:txBody>
      </p:sp>
      <p:sp>
        <p:nvSpPr>
          <p:cNvPr id="124" name="Google Shape;124;p6"/>
          <p:cNvSpPr/>
          <p:nvPr/>
        </p:nvSpPr>
        <p:spPr>
          <a:xfrm>
            <a:off x="6419088" y="4151376"/>
            <a:ext cx="402336" cy="402336"/>
          </a:xfrm>
          <a:prstGeom prst="ellipse">
            <a:avLst/>
          </a:prstGeom>
          <a:solidFill>
            <a:srgbClr val="B0793F"/>
          </a:solidFill>
          <a:ln>
            <a:noFill/>
          </a:ln>
          <a:effectLst>
            <a:outerShdw blurRad="50800" dist="12700" dir="54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/>
          </a:p>
        </p:txBody>
      </p:sp>
      <p:sp>
        <p:nvSpPr>
          <p:cNvPr id="125" name="Google Shape;125;p6"/>
          <p:cNvSpPr/>
          <p:nvPr/>
        </p:nvSpPr>
        <p:spPr>
          <a:xfrm>
            <a:off x="6419088" y="4151376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sz="1300" b="1" i="0" dirty="0">
                <a:solidFill>
                  <a:schemeClr val="bg1"/>
                </a:solidFill>
                <a:latin typeface="Calibri"/>
              </a:rPr>
              <a:t>8</a:t>
            </a:r>
            <a:endParaRPr sz="13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6912864" y="4133088"/>
            <a:ext cx="45720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550"/>
              </a:buClr>
              <a:buSzPts val="1350"/>
              <a:buFont typeface="Calibri"/>
              <a:buNone/>
            </a:pPr>
            <a:r>
              <a:rPr sz="1180" b="1" i="0">
                <a:latin typeface="Calibri"/>
              </a:rPr>
              <a:t>Debate or Vote — Which Yields Better Decisions in Multi-Agent Large Language Models? (2025)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6912864" y="4480560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0808F"/>
              </a:buClr>
              <a:buSzPts val="950"/>
              <a:buFont typeface="Calibri"/>
              <a:buNone/>
            </a:pPr>
            <a:r>
              <a:rPr sz="1050" b="0" i="1">
                <a:latin typeface="Calibri"/>
              </a:rPr>
              <a:t>Choi et al. · 2025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6547104" y="4846320"/>
            <a:ext cx="4928616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4F7398"/>
              </a:buClr>
              <a:buSzPts val="1050"/>
              <a:buFont typeface="Calibri"/>
              <a:buNone/>
            </a:pPr>
            <a:r>
              <a:rPr sz="1180" b="1" i="0" dirty="0">
                <a:latin typeface="Calibri"/>
              </a:rPr>
              <a:t>Key methodology</a:t>
            </a:r>
            <a:r>
              <a:rPr sz="1180" i="0" dirty="0">
                <a:latin typeface="Calibri"/>
              </a:rPr>
              <a:t>: Theoretical analysis of when debate adds value; debate helps when agents have genuinely different information or beliefs.</a:t>
            </a:r>
            <a:endParaRPr sz="13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6547104" y="5687568"/>
            <a:ext cx="4928616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5F2D"/>
              </a:buClr>
              <a:buSzPts val="1000"/>
              <a:buFont typeface="Calibri"/>
              <a:buNone/>
            </a:pPr>
            <a:r>
              <a:rPr sz="1300" b="1" i="0" dirty="0">
                <a:latin typeface="Calibri"/>
              </a:rPr>
              <a:t>Limitation</a:t>
            </a:r>
            <a:r>
              <a:rPr sz="1300" i="0" dirty="0">
                <a:latin typeface="Calibri"/>
              </a:rPr>
              <a:t>: Mainly theoretical; no implemented tool-retrieval trigger or conflict-type classifier.</a:t>
            </a:r>
            <a:endParaRPr sz="13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"/>
          <p:cNvSpPr/>
          <p:nvPr/>
        </p:nvSpPr>
        <p:spPr>
          <a:xfrm>
            <a:off x="457200" y="301075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5F2D"/>
              </a:buClr>
              <a:buSzPts val="1150"/>
              <a:buFont typeface="Calibri"/>
              <a:buNone/>
            </a:pPr>
            <a:r>
              <a:rPr sz="1300" b="1" i="0" dirty="0">
                <a:solidFill>
                  <a:schemeClr val="accent2">
                    <a:lumMod val="50000"/>
                  </a:schemeClr>
                </a:solidFill>
                <a:latin typeface="Calibri"/>
              </a:rPr>
              <a:t>LITERATURE REVIEW — PART III</a:t>
            </a:r>
            <a:endParaRPr sz="1150" b="0" i="0" u="none" strike="noStrike" cap="none" dirty="0">
              <a:solidFill>
                <a:schemeClr val="accent2">
                  <a:lumMod val="5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457200" y="530352"/>
            <a:ext cx="1127455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3550"/>
              </a:buClr>
              <a:buSzPts val="2700"/>
              <a:buFont typeface="Cambria"/>
              <a:buNone/>
            </a:pPr>
            <a:r>
              <a:rPr sz="2800" b="1" i="0" dirty="0">
                <a:latin typeface="Cambria" panose="02040503050406030204" pitchFamily="18" charset="0"/>
                <a:ea typeface="Cambria" panose="02040503050406030204" pitchFamily="18" charset="0"/>
              </a:rPr>
              <a:t>Evidence / Conflict Detection &amp; Classification</a:t>
            </a:r>
            <a:endParaRPr sz="2800" b="0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457200" y="1298448"/>
            <a:ext cx="5440680" cy="2359152"/>
          </a:xfrm>
          <a:prstGeom prst="roundRect">
            <a:avLst>
              <a:gd name="adj" fmla="val 3101"/>
            </a:avLst>
          </a:prstGeom>
          <a:solidFill>
            <a:srgbClr val="F4F8FB"/>
          </a:solidFill>
          <a:ln w="12700" cap="flat" cmpd="sng">
            <a:solidFill>
              <a:srgbClr val="AFC4D6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B355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/>
          </a:p>
        </p:txBody>
      </p:sp>
      <p:sp>
        <p:nvSpPr>
          <p:cNvPr id="139" name="Google Shape;139;p7"/>
          <p:cNvSpPr/>
          <p:nvPr/>
        </p:nvSpPr>
        <p:spPr>
          <a:xfrm>
            <a:off x="585216" y="1426464"/>
            <a:ext cx="402336" cy="402336"/>
          </a:xfrm>
          <a:prstGeom prst="ellipse">
            <a:avLst/>
          </a:prstGeom>
          <a:solidFill>
            <a:srgbClr val="B0793F"/>
          </a:solidFill>
          <a:ln>
            <a:noFill/>
          </a:ln>
          <a:effectLst>
            <a:outerShdw blurRad="50800" dist="12700" dir="54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/>
          </a:p>
        </p:txBody>
      </p:sp>
      <p:sp>
        <p:nvSpPr>
          <p:cNvPr id="140" name="Google Shape;140;p7"/>
          <p:cNvSpPr/>
          <p:nvPr/>
        </p:nvSpPr>
        <p:spPr>
          <a:xfrm>
            <a:off x="585216" y="1426464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sz="1300" b="1" i="0" dirty="0">
                <a:solidFill>
                  <a:schemeClr val="bg1"/>
                </a:solidFill>
                <a:latin typeface="Calibri"/>
              </a:rPr>
              <a:t>9</a:t>
            </a:r>
            <a:endParaRPr sz="13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1078992" y="1408176"/>
            <a:ext cx="45720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550"/>
              </a:buClr>
              <a:buSzPts val="1350"/>
              <a:buFont typeface="Calibri"/>
              <a:buNone/>
            </a:pPr>
            <a:r>
              <a:rPr sz="1180" b="1" i="0">
                <a:latin typeface="Calibri"/>
              </a:rPr>
              <a:t>DRAGged into Conflicts — Detecting and Addressing Conflicting Sources in Search-Augmented LLMs (2025)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1078992" y="1755648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0808F"/>
              </a:buClr>
              <a:buSzPts val="950"/>
              <a:buFont typeface="Calibri"/>
              <a:buNone/>
            </a:pPr>
            <a:r>
              <a:rPr sz="1050" b="0" i="1">
                <a:latin typeface="Calibri"/>
              </a:rPr>
              <a:t>Cattan et al. · 2025 (preprint)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713232" y="2121408"/>
            <a:ext cx="4928616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4F7398"/>
              </a:buClr>
              <a:buSzPts val="1050"/>
              <a:buFont typeface="Calibri"/>
              <a:buNone/>
            </a:pPr>
            <a:r>
              <a:rPr sz="1120" b="1" i="0" dirty="0">
                <a:latin typeface="Calibri"/>
              </a:rPr>
              <a:t>Key methodology</a:t>
            </a:r>
            <a:r>
              <a:rPr sz="1120" i="0" dirty="0">
                <a:latin typeface="Calibri"/>
              </a:rPr>
              <a:t>: Detects source conflicts and introduces a taxonomy such as temporal, disputed, misinformation-driven, and complementary; conflict type guides the response.</a:t>
            </a:r>
            <a:endParaRPr sz="13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713232" y="2962656"/>
            <a:ext cx="4928616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5F2D"/>
              </a:buClr>
              <a:buSzPts val="1000"/>
              <a:buFont typeface="Calibri"/>
              <a:buNone/>
            </a:pPr>
            <a:r>
              <a:rPr sz="1300" b="1" i="0" dirty="0">
                <a:latin typeface="Calibri"/>
              </a:rPr>
              <a:t>Limitation:</a:t>
            </a:r>
            <a:r>
              <a:rPr sz="1300" i="0" dirty="0">
                <a:latin typeface="Calibri"/>
              </a:rPr>
              <a:t> Single-LLM pipeline; conflict type is not used to route or adapt a multi-agent debate.</a:t>
            </a:r>
            <a:endParaRPr sz="13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6291072" y="1298448"/>
            <a:ext cx="5440680" cy="2359152"/>
          </a:xfrm>
          <a:prstGeom prst="roundRect">
            <a:avLst>
              <a:gd name="adj" fmla="val 3101"/>
            </a:avLst>
          </a:prstGeom>
          <a:solidFill>
            <a:srgbClr val="F4F8FB"/>
          </a:solidFill>
          <a:ln w="12700" cap="flat" cmpd="sng">
            <a:solidFill>
              <a:srgbClr val="AFC4D6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B355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/>
          </a:p>
        </p:txBody>
      </p:sp>
      <p:sp>
        <p:nvSpPr>
          <p:cNvPr id="146" name="Google Shape;146;p7"/>
          <p:cNvSpPr/>
          <p:nvPr/>
        </p:nvSpPr>
        <p:spPr>
          <a:xfrm>
            <a:off x="6419088" y="1426464"/>
            <a:ext cx="402336" cy="402336"/>
          </a:xfrm>
          <a:prstGeom prst="ellipse">
            <a:avLst/>
          </a:prstGeom>
          <a:solidFill>
            <a:srgbClr val="B0793F"/>
          </a:solidFill>
          <a:ln>
            <a:noFill/>
          </a:ln>
          <a:effectLst>
            <a:outerShdw blurRad="50800" dist="12700" dir="54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/>
          </a:p>
        </p:txBody>
      </p:sp>
      <p:sp>
        <p:nvSpPr>
          <p:cNvPr id="147" name="Google Shape;147;p7"/>
          <p:cNvSpPr/>
          <p:nvPr/>
        </p:nvSpPr>
        <p:spPr>
          <a:xfrm>
            <a:off x="6419088" y="1426464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sz="1300" b="1" i="0" dirty="0">
                <a:solidFill>
                  <a:schemeClr val="bg1"/>
                </a:solidFill>
                <a:latin typeface="Calibri"/>
              </a:rPr>
              <a:t>10</a:t>
            </a:r>
            <a:endParaRPr sz="13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6912864" y="1408176"/>
            <a:ext cx="45720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550"/>
              </a:buClr>
              <a:buSzPts val="1350"/>
              <a:buFont typeface="Calibri"/>
              <a:buNone/>
            </a:pPr>
            <a:r>
              <a:rPr sz="1180" b="1" i="0">
                <a:latin typeface="Calibri"/>
              </a:rPr>
              <a:t>Knowledge Conflicts for LLMs — Knowledge Conflicts for Large Language Models: A Survey (2024)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6912864" y="1755648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0808F"/>
              </a:buClr>
              <a:buSzPts val="950"/>
              <a:buFont typeface="Calibri"/>
              <a:buNone/>
            </a:pPr>
            <a:r>
              <a:rPr sz="1050" b="0" i="1">
                <a:latin typeface="Calibri"/>
              </a:rPr>
              <a:t>Xu et al. · EMNLP 2024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6547104" y="2121408"/>
            <a:ext cx="4928616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4F7398"/>
              </a:buClr>
              <a:buSzPts val="1050"/>
              <a:buFont typeface="Calibri"/>
              <a:buNone/>
            </a:pPr>
            <a:r>
              <a:rPr sz="1180" b="1" i="0" dirty="0">
                <a:latin typeface="Calibri"/>
              </a:rPr>
              <a:t>Key methodology</a:t>
            </a:r>
            <a:r>
              <a:rPr sz="1180" i="0" dirty="0">
                <a:latin typeface="Calibri"/>
              </a:rPr>
              <a:t>: Surveys knowledge-conflict research and organizes it into context-memory, inter-context, and intra-memory conflicts.</a:t>
            </a:r>
            <a:endParaRPr sz="13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6547104" y="2962656"/>
            <a:ext cx="4928616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5F2D"/>
              </a:buClr>
              <a:buSzPts val="1000"/>
              <a:buFont typeface="Calibri"/>
              <a:buNone/>
            </a:pPr>
            <a:r>
              <a:rPr sz="1300" b="1" i="0" dirty="0">
                <a:latin typeface="Calibri"/>
              </a:rPr>
              <a:t>Limitation</a:t>
            </a:r>
            <a:r>
              <a:rPr sz="1300" i="0" dirty="0">
                <a:latin typeface="Calibri"/>
              </a:rPr>
              <a:t>: Conceptual survey, not an implemented system; no debate trigger or MAD integration.</a:t>
            </a:r>
            <a:endParaRPr sz="13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457200" y="4023360"/>
            <a:ext cx="5440680" cy="2359152"/>
          </a:xfrm>
          <a:prstGeom prst="roundRect">
            <a:avLst>
              <a:gd name="adj" fmla="val 3101"/>
            </a:avLst>
          </a:prstGeom>
          <a:solidFill>
            <a:srgbClr val="F4F8FB"/>
          </a:solidFill>
          <a:ln w="12700" cap="flat" cmpd="sng">
            <a:solidFill>
              <a:srgbClr val="AFC4D6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B355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/>
          </a:p>
        </p:txBody>
      </p:sp>
      <p:sp>
        <p:nvSpPr>
          <p:cNvPr id="153" name="Google Shape;153;p7"/>
          <p:cNvSpPr/>
          <p:nvPr/>
        </p:nvSpPr>
        <p:spPr>
          <a:xfrm>
            <a:off x="585216" y="4151376"/>
            <a:ext cx="402336" cy="402336"/>
          </a:xfrm>
          <a:prstGeom prst="ellipse">
            <a:avLst/>
          </a:prstGeom>
          <a:solidFill>
            <a:srgbClr val="B0793F"/>
          </a:solidFill>
          <a:ln>
            <a:noFill/>
          </a:ln>
          <a:effectLst>
            <a:outerShdw blurRad="50800" dist="12700" dir="54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/>
          </a:p>
        </p:txBody>
      </p:sp>
      <p:sp>
        <p:nvSpPr>
          <p:cNvPr id="154" name="Google Shape;154;p7"/>
          <p:cNvSpPr/>
          <p:nvPr/>
        </p:nvSpPr>
        <p:spPr>
          <a:xfrm>
            <a:off x="585216" y="4151376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sz="1300" b="1" i="0" dirty="0">
                <a:solidFill>
                  <a:schemeClr val="bg1"/>
                </a:solidFill>
                <a:latin typeface="Calibri"/>
              </a:rPr>
              <a:t>11</a:t>
            </a:r>
            <a:endParaRPr sz="13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1078992" y="4133088"/>
            <a:ext cx="45720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550"/>
              </a:buClr>
              <a:buSzPts val="1350"/>
              <a:buFont typeface="Calibri"/>
              <a:buNone/>
            </a:pPr>
            <a:r>
              <a:rPr sz="1300" b="1" i="0">
                <a:latin typeface="Calibri"/>
              </a:rPr>
              <a:t>MAIN-RAG — Multi-Agent Filtering Retrieval-Augmented Generation (2025)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1078992" y="4480560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0808F"/>
              </a:buClr>
              <a:buSzPts val="950"/>
              <a:buFont typeface="Calibri"/>
              <a:buNone/>
            </a:pPr>
            <a:r>
              <a:rPr sz="1050" b="0" i="1">
                <a:latin typeface="Calibri"/>
              </a:rPr>
              <a:t>Chang et al. · ACL 2025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713232" y="4846320"/>
            <a:ext cx="4928616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4F7398"/>
              </a:buClr>
              <a:buSzPts val="1050"/>
              <a:buFont typeface="Calibri"/>
              <a:buNone/>
            </a:pPr>
            <a:r>
              <a:rPr sz="1180" b="1" i="0" dirty="0">
                <a:latin typeface="Calibri"/>
              </a:rPr>
              <a:t>Key methodology</a:t>
            </a:r>
            <a:r>
              <a:rPr sz="1180" i="0" dirty="0">
                <a:latin typeface="Calibri"/>
              </a:rPr>
              <a:t>: Multiple agents collaboratively filter and score retrieved documents to remove noisy or irrelevant evidence before generation.</a:t>
            </a:r>
            <a:endParaRPr sz="13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713232" y="5687568"/>
            <a:ext cx="4928616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5F2D"/>
              </a:buClr>
              <a:buSzPts val="1000"/>
              <a:buFont typeface="Calibri"/>
              <a:buNone/>
            </a:pPr>
            <a:r>
              <a:rPr sz="1180" b="1" i="0" dirty="0">
                <a:latin typeface="Calibri"/>
              </a:rPr>
              <a:t>Limitation</a:t>
            </a:r>
            <a:r>
              <a:rPr sz="1180" i="0" dirty="0">
                <a:latin typeface="Calibri"/>
              </a:rPr>
              <a:t>: Agents filter documents rather than debate claims; no debate trigger or conflict-type classification.</a:t>
            </a:r>
            <a:endParaRPr sz="13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6291072" y="4023360"/>
            <a:ext cx="5440680" cy="2359152"/>
          </a:xfrm>
          <a:prstGeom prst="roundRect">
            <a:avLst>
              <a:gd name="adj" fmla="val 3101"/>
            </a:avLst>
          </a:prstGeom>
          <a:solidFill>
            <a:srgbClr val="F4F8FB"/>
          </a:solidFill>
          <a:ln w="12700" cap="flat" cmpd="sng">
            <a:solidFill>
              <a:srgbClr val="AFC4D6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B355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/>
          </a:p>
        </p:txBody>
      </p:sp>
      <p:sp>
        <p:nvSpPr>
          <p:cNvPr id="160" name="Google Shape;160;p7"/>
          <p:cNvSpPr/>
          <p:nvPr/>
        </p:nvSpPr>
        <p:spPr>
          <a:xfrm>
            <a:off x="6419088" y="4151376"/>
            <a:ext cx="402336" cy="402336"/>
          </a:xfrm>
          <a:prstGeom prst="ellipse">
            <a:avLst/>
          </a:prstGeom>
          <a:solidFill>
            <a:srgbClr val="B0793F"/>
          </a:solidFill>
          <a:ln>
            <a:noFill/>
          </a:ln>
          <a:effectLst>
            <a:outerShdw blurRad="50800" dist="12700" dir="54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/>
          </a:p>
        </p:txBody>
      </p:sp>
      <p:sp>
        <p:nvSpPr>
          <p:cNvPr id="161" name="Google Shape;161;p7"/>
          <p:cNvSpPr/>
          <p:nvPr/>
        </p:nvSpPr>
        <p:spPr>
          <a:xfrm>
            <a:off x="6419088" y="4151376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sz="1300" b="1" i="0" dirty="0">
                <a:solidFill>
                  <a:schemeClr val="bg1"/>
                </a:solidFill>
                <a:latin typeface="Calibri"/>
              </a:rPr>
              <a:t>12</a:t>
            </a:r>
            <a:endParaRPr sz="13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6912864" y="4133088"/>
            <a:ext cx="45720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550"/>
              </a:buClr>
              <a:buSzPts val="1350"/>
              <a:buFont typeface="Calibri"/>
              <a:buNone/>
            </a:pPr>
            <a:r>
              <a:rPr sz="1120" b="1" i="0">
                <a:latin typeface="Calibri"/>
              </a:rPr>
              <a:t>SMADE-IE — Sparse Multi-Agent Framework with Evidence-Driven Debate for Zero-Shot Information Extraction (2026)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6912864" y="4480560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0808F"/>
              </a:buClr>
              <a:buSzPts val="950"/>
              <a:buFont typeface="Calibri"/>
              <a:buNone/>
            </a:pPr>
            <a:r>
              <a:rPr sz="1050" b="0" i="1">
                <a:latin typeface="Calibri"/>
              </a:rPr>
              <a:t>2026 (preprint)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6547104" y="4846320"/>
            <a:ext cx="4928616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4F7398"/>
              </a:buClr>
              <a:buSzPts val="1050"/>
              <a:buFont typeface="Calibri"/>
              <a:buNone/>
            </a:pPr>
            <a:r>
              <a:rPr sz="1180" b="1" i="0" dirty="0">
                <a:latin typeface="Calibri"/>
              </a:rPr>
              <a:t>Key methodology</a:t>
            </a:r>
            <a:r>
              <a:rPr sz="1180" i="0" dirty="0">
                <a:latin typeface="Calibri"/>
              </a:rPr>
              <a:t>: Uses structured evidence-based arguments and evidence scores to rank candidates and guide debate.</a:t>
            </a:r>
            <a:endParaRPr sz="13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6547104" y="5687568"/>
            <a:ext cx="4928616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5F2D"/>
              </a:buClr>
              <a:buSzPts val="1000"/>
              <a:buFont typeface="Calibri"/>
              <a:buNone/>
            </a:pPr>
            <a:r>
              <a:rPr sz="1120" b="1" i="0" dirty="0">
                <a:latin typeface="Calibri"/>
              </a:rPr>
              <a:t>Limitation</a:t>
            </a:r>
            <a:r>
              <a:rPr sz="1120" i="0" dirty="0">
                <a:latin typeface="Calibri"/>
              </a:rPr>
              <a:t>: Filters which candidates enter debate rather than deciding whether debate should start; its “conflict type” is entity-label competition, not epistemic conflict type.</a:t>
            </a:r>
            <a:endParaRPr sz="13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"/>
          <p:cNvSpPr/>
          <p:nvPr/>
        </p:nvSpPr>
        <p:spPr>
          <a:xfrm>
            <a:off x="457200" y="29260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5F2D"/>
              </a:buClr>
              <a:buSzPts val="1150"/>
              <a:buFont typeface="Calibri"/>
              <a:buNone/>
            </a:pPr>
            <a:r>
              <a:rPr sz="1300" b="1" i="0" dirty="0">
                <a:solidFill>
                  <a:schemeClr val="accent2">
                    <a:lumMod val="50000"/>
                  </a:schemeClr>
                </a:solidFill>
                <a:latin typeface="Calibri"/>
              </a:rPr>
              <a:t>LITERATURE REVIEW — PART IV</a:t>
            </a:r>
            <a:endParaRPr sz="1150" b="0" i="0" u="none" strike="noStrike" cap="none" dirty="0">
              <a:solidFill>
                <a:schemeClr val="accent2">
                  <a:lumMod val="5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457200" y="530352"/>
            <a:ext cx="1127455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3550"/>
              </a:buClr>
              <a:buSzPts val="2700"/>
              <a:buFont typeface="Cambria"/>
              <a:buNone/>
            </a:pPr>
            <a:r>
              <a:rPr sz="2800" b="1" i="0" dirty="0">
                <a:latin typeface="Cambria" panose="02040503050406030204" pitchFamily="18" charset="0"/>
                <a:ea typeface="Cambria" panose="02040503050406030204" pitchFamily="18" charset="0"/>
              </a:rPr>
              <a:t>Other / Closely Related Tool-Augmented Debate Work</a:t>
            </a:r>
            <a:endParaRPr sz="2800" b="0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457200" y="1298448"/>
            <a:ext cx="5440680" cy="2359152"/>
          </a:xfrm>
          <a:prstGeom prst="roundRect">
            <a:avLst>
              <a:gd name="adj" fmla="val 3101"/>
            </a:avLst>
          </a:prstGeom>
          <a:solidFill>
            <a:srgbClr val="F4F8FB"/>
          </a:solidFill>
          <a:ln w="12700" cap="flat" cmpd="sng">
            <a:solidFill>
              <a:srgbClr val="AFC4D6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B355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/>
          </a:p>
        </p:txBody>
      </p:sp>
      <p:sp>
        <p:nvSpPr>
          <p:cNvPr id="175" name="Google Shape;175;p8"/>
          <p:cNvSpPr/>
          <p:nvPr/>
        </p:nvSpPr>
        <p:spPr>
          <a:xfrm>
            <a:off x="585216" y="1426464"/>
            <a:ext cx="402336" cy="402336"/>
          </a:xfrm>
          <a:prstGeom prst="ellipse">
            <a:avLst/>
          </a:prstGeom>
          <a:solidFill>
            <a:srgbClr val="B0793F"/>
          </a:solidFill>
          <a:ln>
            <a:noFill/>
          </a:ln>
          <a:effectLst>
            <a:outerShdw blurRad="50800" dist="12700" dir="54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/>
          </a:p>
        </p:txBody>
      </p:sp>
      <p:sp>
        <p:nvSpPr>
          <p:cNvPr id="176" name="Google Shape;176;p8"/>
          <p:cNvSpPr/>
          <p:nvPr/>
        </p:nvSpPr>
        <p:spPr>
          <a:xfrm>
            <a:off x="585216" y="1426464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sz="1300" b="1" i="0" dirty="0">
                <a:solidFill>
                  <a:schemeClr val="bg1"/>
                </a:solidFill>
                <a:latin typeface="Calibri"/>
              </a:rPr>
              <a:t>13</a:t>
            </a:r>
            <a:endParaRPr sz="13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1078992" y="1408176"/>
            <a:ext cx="45720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550"/>
              </a:buClr>
              <a:buSzPts val="1350"/>
              <a:buFont typeface="Calibri"/>
              <a:buNone/>
            </a:pPr>
            <a:r>
              <a:rPr sz="1160" b="1">
                <a:latin typeface="Calibri"/>
              </a:rPr>
              <a:t>MADAM-RAG — Retrieval-Augmented Generation with Conflicting Evidence (2025)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1078992" y="1755648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0808F"/>
              </a:buClr>
              <a:buSzPts val="950"/>
              <a:buFont typeface="Calibri"/>
              <a:buNone/>
            </a:pPr>
            <a:r>
              <a:rPr sz="1050" i="1">
                <a:latin typeface="Calibri"/>
              </a:rPr>
              <a:t>Wang et al. · COLM 2025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713232" y="2121408"/>
            <a:ext cx="4928616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4F7398"/>
              </a:buClr>
              <a:buSzPts val="1050"/>
              <a:buFont typeface="Calibri"/>
              <a:buNone/>
            </a:pPr>
            <a:r>
              <a:rPr sz="1120" b="1" dirty="0">
                <a:latin typeface="Calibri"/>
              </a:rPr>
              <a:t>Key methodology</a:t>
            </a:r>
            <a:r>
              <a:rPr sz="1120" dirty="0">
                <a:latin typeface="Calibri"/>
              </a:rPr>
              <a:t>: Each retrieved document is assigned to an LLM agent; agents debate over the documents to resolve ambiguity, suppress misinformation, and identify valid answers.</a:t>
            </a:r>
            <a:endParaRPr sz="13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713232" y="2962656"/>
            <a:ext cx="4928616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5F2D"/>
              </a:buClr>
              <a:buSzPts val="1000"/>
              <a:buFont typeface="Calibri"/>
              <a:buNone/>
            </a:pPr>
            <a:r>
              <a:rPr sz="1170" b="1" dirty="0">
                <a:latin typeface="Calibri"/>
              </a:rPr>
              <a:t>Limitation</a:t>
            </a:r>
            <a:r>
              <a:rPr sz="1170" dirty="0">
                <a:latin typeface="Calibri"/>
              </a:rPr>
              <a:t>: Debate is unconditional; no evidence-agreement gate before debate and no conflict-type-based debate routing.</a:t>
            </a:r>
            <a:endParaRPr sz="13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6291072" y="1298448"/>
            <a:ext cx="5440680" cy="2359152"/>
          </a:xfrm>
          <a:prstGeom prst="roundRect">
            <a:avLst>
              <a:gd name="adj" fmla="val 3101"/>
            </a:avLst>
          </a:prstGeom>
          <a:solidFill>
            <a:srgbClr val="F4F8FB"/>
          </a:solidFill>
          <a:ln w="12700" cap="flat" cmpd="sng">
            <a:solidFill>
              <a:srgbClr val="AFC4D6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B355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/>
          </a:p>
        </p:txBody>
      </p:sp>
      <p:sp>
        <p:nvSpPr>
          <p:cNvPr id="182" name="Google Shape;182;p8"/>
          <p:cNvSpPr/>
          <p:nvPr/>
        </p:nvSpPr>
        <p:spPr>
          <a:xfrm>
            <a:off x="6419088" y="1426464"/>
            <a:ext cx="402336" cy="402336"/>
          </a:xfrm>
          <a:prstGeom prst="ellipse">
            <a:avLst/>
          </a:prstGeom>
          <a:solidFill>
            <a:srgbClr val="B0793F"/>
          </a:solidFill>
          <a:ln>
            <a:noFill/>
          </a:ln>
          <a:effectLst>
            <a:outerShdw blurRad="50800" dist="12700" dir="54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/>
          </a:p>
        </p:txBody>
      </p:sp>
      <p:sp>
        <p:nvSpPr>
          <p:cNvPr id="183" name="Google Shape;183;p8"/>
          <p:cNvSpPr/>
          <p:nvPr/>
        </p:nvSpPr>
        <p:spPr>
          <a:xfrm>
            <a:off x="6419088" y="1426464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sz="1300" b="1" i="0" dirty="0">
                <a:solidFill>
                  <a:schemeClr val="bg1"/>
                </a:solidFill>
                <a:latin typeface="Calibri"/>
              </a:rPr>
              <a:t>14</a:t>
            </a:r>
            <a:endParaRPr sz="13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6912864" y="1408176"/>
            <a:ext cx="45720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550"/>
              </a:buClr>
              <a:buSzPts val="1350"/>
              <a:buFont typeface="Calibri"/>
              <a:buNone/>
            </a:pPr>
            <a:r>
              <a:rPr sz="1090" b="1">
                <a:latin typeface="Calibri"/>
              </a:rPr>
              <a:t>Tool-MAD — A Multi-Agent Debate Framework for Fact Verification with Diverse Tool Augmentation and Adaptive Retrieval (2026)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6912864" y="1755648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0808F"/>
              </a:buClr>
              <a:buSzPts val="950"/>
              <a:buFont typeface="Calibri"/>
              <a:buNone/>
            </a:pPr>
            <a:r>
              <a:rPr sz="1050" i="1">
                <a:latin typeface="Calibri"/>
              </a:rPr>
              <a:t>Jeong et al. · 2026 (preprint)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6547104" y="2121408"/>
            <a:ext cx="4928616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4F7398"/>
              </a:buClr>
              <a:buSzPts val="1050"/>
              <a:buFont typeface="Calibri"/>
              <a:buNone/>
            </a:pPr>
            <a:r>
              <a:rPr sz="1120" b="1" dirty="0">
                <a:latin typeface="Calibri"/>
              </a:rPr>
              <a:t>Key methodology</a:t>
            </a:r>
            <a:r>
              <a:rPr sz="1120" dirty="0">
                <a:latin typeface="Calibri"/>
              </a:rPr>
              <a:t>: Different agents use different external tools and can adaptively re-retrieve evidence after each debate round as the discussion evolves.</a:t>
            </a:r>
            <a:endParaRPr sz="13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6547104" y="2962656"/>
            <a:ext cx="4928616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5F2D"/>
              </a:buClr>
              <a:buSzPts val="1000"/>
              <a:buFont typeface="Calibri"/>
              <a:buNone/>
            </a:pPr>
            <a:r>
              <a:rPr sz="1170" b="1" dirty="0">
                <a:latin typeface="Calibri"/>
              </a:rPr>
              <a:t>Limitation</a:t>
            </a:r>
            <a:r>
              <a:rPr sz="1170" dirty="0">
                <a:latin typeface="Calibri"/>
              </a:rPr>
              <a:t>: Retrieval is adaptive only after debate starts; no pre-debate evidence-disagreement trigger or conflict-type classification.</a:t>
            </a:r>
            <a:endParaRPr sz="13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457200" y="4023360"/>
            <a:ext cx="5440680" cy="2359152"/>
          </a:xfrm>
          <a:prstGeom prst="roundRect">
            <a:avLst>
              <a:gd name="adj" fmla="val 3101"/>
            </a:avLst>
          </a:prstGeom>
          <a:solidFill>
            <a:srgbClr val="F4F8FB"/>
          </a:solidFill>
          <a:ln w="12700" cap="flat" cmpd="sng">
            <a:solidFill>
              <a:srgbClr val="AFC4D6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B355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/>
          </a:p>
        </p:txBody>
      </p:sp>
      <p:sp>
        <p:nvSpPr>
          <p:cNvPr id="189" name="Google Shape;189;p8"/>
          <p:cNvSpPr/>
          <p:nvPr/>
        </p:nvSpPr>
        <p:spPr>
          <a:xfrm>
            <a:off x="585216" y="4151376"/>
            <a:ext cx="402336" cy="402336"/>
          </a:xfrm>
          <a:prstGeom prst="ellipse">
            <a:avLst/>
          </a:prstGeom>
          <a:solidFill>
            <a:srgbClr val="B0793F"/>
          </a:solidFill>
          <a:ln>
            <a:noFill/>
          </a:ln>
          <a:effectLst>
            <a:outerShdw blurRad="50800" dist="12700" dir="54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/>
          </a:p>
        </p:txBody>
      </p:sp>
      <p:sp>
        <p:nvSpPr>
          <p:cNvPr id="190" name="Google Shape;190;p8"/>
          <p:cNvSpPr/>
          <p:nvPr/>
        </p:nvSpPr>
        <p:spPr>
          <a:xfrm>
            <a:off x="585216" y="4151376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sz="1300" b="1" i="0" dirty="0">
                <a:solidFill>
                  <a:schemeClr val="bg1"/>
                </a:solidFill>
                <a:latin typeface="Calibri"/>
              </a:rPr>
              <a:t>15</a:t>
            </a:r>
            <a:endParaRPr sz="13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1078992" y="4133088"/>
            <a:ext cx="45720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550"/>
              </a:buClr>
              <a:buSzPts val="1350"/>
              <a:buFont typeface="Calibri"/>
              <a:buNone/>
            </a:pPr>
            <a:r>
              <a:rPr sz="1090" b="1">
                <a:latin typeface="Calibri"/>
              </a:rPr>
              <a:t>Debating with More Persuasive LLMs — Debating with More Persuasive LLMs Leads to More Truthful Answers (2024)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1078992" y="4480560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0808F"/>
              </a:buClr>
              <a:buSzPts val="950"/>
              <a:buFont typeface="Calibri"/>
              <a:buNone/>
            </a:pPr>
            <a:r>
              <a:rPr sz="1050" i="1">
                <a:latin typeface="Calibri"/>
              </a:rPr>
              <a:t>Khan et al. · ICML 2024 (Best Paper)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713232" y="4846320"/>
            <a:ext cx="4928616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4F7398"/>
              </a:buClr>
              <a:buSzPts val="1050"/>
              <a:buFont typeface="Calibri"/>
              <a:buNone/>
            </a:pPr>
            <a:r>
              <a:rPr sz="1170" b="1" dirty="0">
                <a:latin typeface="Calibri"/>
              </a:rPr>
              <a:t>Key methodology</a:t>
            </a:r>
            <a:r>
              <a:rPr sz="1170" dirty="0">
                <a:latin typeface="Calibri"/>
              </a:rPr>
              <a:t>: Two expert agents debate opposing answers from a supplied text, while a judge evaluates which argument is more truthful.</a:t>
            </a:r>
            <a:endParaRPr sz="13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713232" y="5687568"/>
            <a:ext cx="4928616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5F2D"/>
              </a:buClr>
              <a:buSzPts val="1000"/>
              <a:buFont typeface="Calibri"/>
              <a:buNone/>
            </a:pPr>
            <a:r>
              <a:rPr sz="1170" b="1" dirty="0">
                <a:latin typeface="Calibri"/>
              </a:rPr>
              <a:t>Limitation</a:t>
            </a:r>
            <a:r>
              <a:rPr sz="1170" dirty="0">
                <a:latin typeface="Calibri"/>
              </a:rPr>
              <a:t>: Evidence is static rather than dynamically retrieved; debate is always initiated and conflicts are not classified.</a:t>
            </a:r>
            <a:endParaRPr sz="13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6291072" y="4023360"/>
            <a:ext cx="5440680" cy="2359152"/>
          </a:xfrm>
          <a:prstGeom prst="roundRect">
            <a:avLst>
              <a:gd name="adj" fmla="val 3101"/>
            </a:avLst>
          </a:prstGeom>
          <a:solidFill>
            <a:srgbClr val="F4F8FB"/>
          </a:solidFill>
          <a:ln w="12700" cap="flat" cmpd="sng">
            <a:solidFill>
              <a:srgbClr val="AFC4D6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B355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/>
          </a:p>
        </p:txBody>
      </p:sp>
      <p:sp>
        <p:nvSpPr>
          <p:cNvPr id="196" name="Google Shape;196;p8"/>
          <p:cNvSpPr/>
          <p:nvPr/>
        </p:nvSpPr>
        <p:spPr>
          <a:xfrm>
            <a:off x="6419088" y="4151376"/>
            <a:ext cx="402336" cy="402336"/>
          </a:xfrm>
          <a:prstGeom prst="ellipse">
            <a:avLst/>
          </a:prstGeom>
          <a:solidFill>
            <a:srgbClr val="B0793F"/>
          </a:solidFill>
          <a:ln>
            <a:noFill/>
          </a:ln>
          <a:effectLst>
            <a:outerShdw blurRad="50800" dist="12700" dir="54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/>
          </a:p>
        </p:txBody>
      </p:sp>
      <p:sp>
        <p:nvSpPr>
          <p:cNvPr id="197" name="Google Shape;197;p8"/>
          <p:cNvSpPr/>
          <p:nvPr/>
        </p:nvSpPr>
        <p:spPr>
          <a:xfrm>
            <a:off x="6419088" y="4151376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sz="1300" b="1" i="0" dirty="0">
                <a:solidFill>
                  <a:schemeClr val="bg1"/>
                </a:solidFill>
                <a:latin typeface="Calibri"/>
              </a:rPr>
              <a:t>16</a:t>
            </a:r>
            <a:endParaRPr sz="13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6912864" y="4133088"/>
            <a:ext cx="45720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550"/>
              </a:buClr>
              <a:buSzPts val="1350"/>
              <a:buFont typeface="Calibri"/>
              <a:buNone/>
            </a:pPr>
            <a:r>
              <a:rPr sz="1090" b="1">
                <a:latin typeface="Calibri"/>
              </a:rPr>
              <a:t>FORD — Examining Inter-Consistency of Large Language Models Collaboration: An In-depth Analysis via Debate (2023)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6912864" y="4480560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0808F"/>
              </a:buClr>
              <a:buSzPts val="950"/>
              <a:buFont typeface="Calibri"/>
              <a:buNone/>
            </a:pPr>
            <a:r>
              <a:rPr sz="1050" i="1">
                <a:latin typeface="Calibri"/>
              </a:rPr>
              <a:t>Xiong et al. · Findings of EMNLP 2023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6547104" y="4846320"/>
            <a:ext cx="4928616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4F7398"/>
              </a:buClr>
              <a:buSzPts val="1050"/>
              <a:buFont typeface="Calibri"/>
              <a:buNone/>
            </a:pPr>
            <a:r>
              <a:rPr sz="1170" b="1" dirty="0">
                <a:latin typeface="Calibri"/>
              </a:rPr>
              <a:t>Key methodology</a:t>
            </a:r>
            <a:r>
              <a:rPr sz="1170" dirty="0">
                <a:latin typeface="Calibri"/>
              </a:rPr>
              <a:t>: Tests whether multiple LLMs reach genuine consensus through several debate structures and a judge.</a:t>
            </a:r>
            <a:endParaRPr sz="13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6547104" y="5687568"/>
            <a:ext cx="4928616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5F2D"/>
              </a:buClr>
              <a:buSzPts val="1000"/>
              <a:buFont typeface="Calibri"/>
              <a:buNone/>
            </a:pPr>
            <a:r>
              <a:rPr sz="1170" b="1" dirty="0">
                <a:latin typeface="Calibri"/>
              </a:rPr>
              <a:t>Limitation</a:t>
            </a:r>
            <a:r>
              <a:rPr sz="1170" dirty="0">
                <a:latin typeface="Calibri"/>
              </a:rPr>
              <a:t>: No external tools/evidence; studies model-viewpoint inconsistency rather than evidence conflict types.</a:t>
            </a:r>
            <a:endParaRPr sz="13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"/>
          <p:cNvSpPr/>
          <p:nvPr/>
        </p:nvSpPr>
        <p:spPr>
          <a:xfrm>
            <a:off x="457200" y="29260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5F2D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8C5F2D"/>
                </a:solidFill>
                <a:latin typeface="Calibri"/>
                <a:ea typeface="Calibri"/>
                <a:cs typeface="Calibri"/>
                <a:sym typeface="Calibri"/>
              </a:rPr>
              <a:t>POSITIONING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457200" y="530352"/>
            <a:ext cx="1127455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3550"/>
              </a:buClr>
              <a:buSzPts val="2700"/>
              <a:buFont typeface="Cambria"/>
              <a:buNone/>
            </a:pPr>
            <a:r>
              <a:rPr lang="en-US" sz="2700" b="1" i="0" u="none" strike="noStrike" cap="none">
                <a:solidFill>
                  <a:srgbClr val="1B3550"/>
                </a:solidFill>
                <a:latin typeface="Cambria"/>
                <a:ea typeface="Cambria"/>
                <a:cs typeface="Cambria"/>
                <a:sym typeface="Cambria"/>
              </a:rPr>
              <a:t>Research Gap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457200" y="1234440"/>
            <a:ext cx="5349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3550"/>
              </a:buClr>
              <a:buSzPts val="1550"/>
              <a:buFont typeface="Cambria"/>
              <a:buNone/>
            </a:pPr>
            <a:r>
              <a:rPr lang="en-US" sz="1600" b="1" i="0" u="none" strike="noStrike" cap="none" dirty="0">
                <a:solidFill>
                  <a:srgbClr val="1B3550"/>
                </a:solidFill>
                <a:latin typeface="Cambria"/>
                <a:ea typeface="Cambria"/>
                <a:cs typeface="Cambria"/>
                <a:sym typeface="Cambria"/>
              </a:rPr>
              <a:t>What Existing Work Already Solves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457200" y="1819656"/>
            <a:ext cx="91440" cy="91440"/>
          </a:xfrm>
          <a:prstGeom prst="ellipse">
            <a:avLst/>
          </a:prstGeom>
          <a:solidFill>
            <a:srgbClr val="4F73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9"/>
          <p:cNvSpPr/>
          <p:nvPr/>
        </p:nvSpPr>
        <p:spPr>
          <a:xfrm>
            <a:off x="713232" y="1691640"/>
            <a:ext cx="5093208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6313B"/>
              </a:buClr>
              <a:buSzPts val="1200"/>
              <a:buFont typeface="Calibri"/>
              <a:buNone/>
            </a:pPr>
            <a:r>
              <a:rPr lang="en-US" b="0" i="0" u="none" strike="noStrike" cap="none">
                <a:solidFill>
                  <a:srgbClr val="26313B"/>
                </a:solidFill>
                <a:latin typeface="Calibri"/>
                <a:ea typeface="Calibri"/>
                <a:cs typeface="Calibri"/>
                <a:sym typeface="Calibri"/>
              </a:rPr>
              <a:t>MAD reliably improves reasoning over single-agent baselines (Du et al.; ReConcile).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457200" y="2660904"/>
            <a:ext cx="91440" cy="91440"/>
          </a:xfrm>
          <a:prstGeom prst="ellipse">
            <a:avLst/>
          </a:prstGeom>
          <a:solidFill>
            <a:srgbClr val="4F73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9"/>
          <p:cNvSpPr/>
          <p:nvPr/>
        </p:nvSpPr>
        <p:spPr>
          <a:xfrm>
            <a:off x="713232" y="2532888"/>
            <a:ext cx="5093208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6313B"/>
              </a:buClr>
              <a:buSzPts val="1200"/>
              <a:buFont typeface="Calibri"/>
              <a:buNone/>
            </a:pPr>
            <a:r>
              <a:rPr lang="en-US" b="0" i="0" u="none" strike="noStrike" cap="none">
                <a:solidFill>
                  <a:srgbClr val="26313B"/>
                </a:solidFill>
                <a:latin typeface="Calibri"/>
                <a:ea typeface="Calibri"/>
                <a:cs typeface="Calibri"/>
                <a:sym typeface="Calibri"/>
              </a:rPr>
              <a:t>Tool-augmented MAD exists, with adaptive retrieval inside debate (MADKE; Tool-MAD).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457200" y="3502152"/>
            <a:ext cx="91440" cy="91440"/>
          </a:xfrm>
          <a:prstGeom prst="ellipse">
            <a:avLst/>
          </a:prstGeom>
          <a:solidFill>
            <a:srgbClr val="4F73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9"/>
          <p:cNvSpPr/>
          <p:nvPr/>
        </p:nvSpPr>
        <p:spPr>
          <a:xfrm>
            <a:off x="713232" y="3374136"/>
            <a:ext cx="5093208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6313B"/>
              </a:buClr>
              <a:buSzPts val="1200"/>
              <a:buFont typeface="Calibri"/>
              <a:buNone/>
            </a:pPr>
            <a:r>
              <a:rPr lang="en-US" b="0" i="0" u="none" strike="noStrike" cap="none">
                <a:solidFill>
                  <a:srgbClr val="26313B"/>
                </a:solidFill>
                <a:latin typeface="Calibri"/>
                <a:ea typeface="Calibri"/>
                <a:cs typeface="Calibri"/>
                <a:sym typeface="Calibri"/>
              </a:rPr>
              <a:t>Debate gating by internal model confidence is established (DOWN; Confidence-Gating).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457200" y="4343400"/>
            <a:ext cx="91440" cy="91440"/>
          </a:xfrm>
          <a:prstGeom prst="ellipse">
            <a:avLst/>
          </a:prstGeom>
          <a:solidFill>
            <a:srgbClr val="4F73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9"/>
          <p:cNvSpPr/>
          <p:nvPr/>
        </p:nvSpPr>
        <p:spPr>
          <a:xfrm>
            <a:off x="713232" y="4215384"/>
            <a:ext cx="5093208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6313B"/>
              </a:buClr>
              <a:buSzPts val="1200"/>
              <a:buFont typeface="Calibri"/>
              <a:buNone/>
            </a:pPr>
            <a:r>
              <a:rPr lang="en-US" b="0" i="0" u="none" strike="noStrike" cap="none">
                <a:solidFill>
                  <a:srgbClr val="26313B"/>
                </a:solidFill>
                <a:latin typeface="Calibri"/>
                <a:ea typeface="Calibri"/>
                <a:cs typeface="Calibri"/>
                <a:sym typeface="Calibri"/>
              </a:rPr>
              <a:t>Conflict-type taxonomies improve single-agent resolution (Cattan et al.; Xu et al. survey).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6096000" y="1097280"/>
            <a:ext cx="5623560" cy="3794760"/>
          </a:xfrm>
          <a:prstGeom prst="roundRect">
            <a:avLst>
              <a:gd name="adj" fmla="val 1928"/>
            </a:avLst>
          </a:prstGeom>
          <a:solidFill>
            <a:srgbClr val="F1E1C9"/>
          </a:solidFill>
          <a:ln w="12700" cap="flat" cmpd="sng">
            <a:solidFill>
              <a:srgbClr val="B0793F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B355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/>
          </a:p>
        </p:txBody>
      </p:sp>
      <p:sp>
        <p:nvSpPr>
          <p:cNvPr id="219" name="Google Shape;219;p9"/>
          <p:cNvSpPr/>
          <p:nvPr/>
        </p:nvSpPr>
        <p:spPr>
          <a:xfrm>
            <a:off x="6416040" y="1206331"/>
            <a:ext cx="4983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5F2D"/>
              </a:buClr>
              <a:buSzPts val="1550"/>
              <a:buFont typeface="Cambria"/>
              <a:buNone/>
            </a:pPr>
            <a:r>
              <a:rPr lang="en-US" sz="1300" b="1" i="0" u="none" strike="noStrike" cap="none" dirty="0">
                <a:solidFill>
                  <a:srgbClr val="8C5F2D"/>
                </a:solidFill>
                <a:latin typeface="Cambria"/>
                <a:ea typeface="Cambria"/>
                <a:cs typeface="Cambria"/>
                <a:sym typeface="Cambria"/>
              </a:rPr>
              <a:t>What Remains Unstudied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6416040" y="1809835"/>
            <a:ext cx="91440" cy="91440"/>
          </a:xfrm>
          <a:prstGeom prst="ellipse">
            <a:avLst/>
          </a:prstGeom>
          <a:solidFill>
            <a:srgbClr val="8C5F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9"/>
          <p:cNvSpPr/>
          <p:nvPr/>
        </p:nvSpPr>
        <p:spPr>
          <a:xfrm>
            <a:off x="6672072" y="1536192"/>
            <a:ext cx="47091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6313B"/>
              </a:buClr>
              <a:buSzPts val="1200"/>
              <a:buFont typeface="Calibri"/>
              <a:buNone/>
            </a:pPr>
            <a:r>
              <a:rPr lang="en-US" b="0" i="0" u="none" strike="noStrike" cap="none" dirty="0">
                <a:solidFill>
                  <a:srgbClr val="26313B"/>
                </a:solidFill>
                <a:latin typeface="Calibri"/>
                <a:ea typeface="Calibri"/>
                <a:cs typeface="Calibri"/>
                <a:sym typeface="Calibri"/>
              </a:rPr>
              <a:t>No system triggers debate from cross-agent, tool-retrieved evidence disagreement (vs. internal confidence).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6416040" y="2797387"/>
            <a:ext cx="91440" cy="91440"/>
          </a:xfrm>
          <a:prstGeom prst="ellipse">
            <a:avLst/>
          </a:prstGeom>
          <a:solidFill>
            <a:srgbClr val="8C5F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9"/>
          <p:cNvSpPr/>
          <p:nvPr/>
        </p:nvSpPr>
        <p:spPr>
          <a:xfrm>
            <a:off x="6672072" y="2513923"/>
            <a:ext cx="47091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6313B"/>
              </a:buClr>
              <a:buSzPts val="1200"/>
              <a:buFont typeface="Calibri"/>
              <a:buNone/>
            </a:pPr>
            <a:r>
              <a:rPr lang="en-US" b="0" i="0" u="none" strike="noStrike" cap="none" dirty="0">
                <a:solidFill>
                  <a:srgbClr val="26313B"/>
                </a:solidFill>
                <a:latin typeface="Calibri"/>
                <a:ea typeface="Calibri"/>
                <a:cs typeface="Calibri"/>
                <a:sym typeface="Calibri"/>
              </a:rPr>
              <a:t>No system uses conflict-type classification to route or adapt a multi-agent debate strategy.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6416040" y="3784939"/>
            <a:ext cx="91440" cy="91440"/>
          </a:xfrm>
          <a:prstGeom prst="ellipse">
            <a:avLst/>
          </a:prstGeom>
          <a:solidFill>
            <a:srgbClr val="8C5F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9"/>
          <p:cNvSpPr/>
          <p:nvPr/>
        </p:nvSpPr>
        <p:spPr>
          <a:xfrm>
            <a:off x="6672072" y="3520440"/>
            <a:ext cx="47091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6313B"/>
              </a:buClr>
              <a:buSzPts val="1200"/>
              <a:buFont typeface="Calibri"/>
              <a:buNone/>
            </a:pPr>
            <a:r>
              <a:rPr lang="en-US" b="0" i="0" u="none" strike="noStrike" cap="none" dirty="0">
                <a:solidFill>
                  <a:srgbClr val="26313B"/>
                </a:solidFill>
                <a:latin typeface="Calibri"/>
                <a:ea typeface="Calibri"/>
                <a:cs typeface="Calibri"/>
                <a:sym typeface="Calibri"/>
              </a:rPr>
              <a:t>The combination of both — evidence-triggered debate + conflict-type-adapted strategy — is unexplored.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426720" y="5518404"/>
            <a:ext cx="11274552" cy="960120"/>
          </a:xfrm>
          <a:prstGeom prst="roundRect">
            <a:avLst>
              <a:gd name="adj" fmla="val 7619"/>
            </a:avLst>
          </a:prstGeom>
          <a:solidFill>
            <a:srgbClr val="1B35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/>
          </a:p>
        </p:txBody>
      </p:sp>
      <p:sp>
        <p:nvSpPr>
          <p:cNvPr id="227" name="Google Shape;227;p9"/>
          <p:cNvSpPr/>
          <p:nvPr/>
        </p:nvSpPr>
        <p:spPr>
          <a:xfrm>
            <a:off x="746760" y="5518404"/>
            <a:ext cx="10634472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F1E1C9"/>
              </a:buClr>
              <a:buSzPts val="1300"/>
              <a:buFont typeface="Calibri"/>
              <a:buNone/>
            </a:pPr>
            <a:r>
              <a:rPr lang="en-US" b="1" i="0" u="none" strike="noStrike" cap="none" dirty="0">
                <a:solidFill>
                  <a:srgbClr val="F1E1C9"/>
                </a:solidFill>
                <a:latin typeface="Calibri"/>
                <a:ea typeface="Calibri"/>
                <a:cs typeface="Calibri"/>
                <a:sym typeface="Calibri"/>
              </a:rPr>
              <a:t>Our Contribution:  </a:t>
            </a:r>
            <a:r>
              <a:rPr lang="en-US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combine an external, evidence-grounded debate trigger with conflict-type-aware debate strategy adaptation, inside a tool-augmented multi-agent debate framework.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0"/>
          <p:cNvSpPr/>
          <p:nvPr/>
        </p:nvSpPr>
        <p:spPr>
          <a:xfrm>
            <a:off x="457200" y="29260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5F2D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8C5F2D"/>
                </a:solidFill>
                <a:latin typeface="Calibri"/>
                <a:ea typeface="Calibri"/>
                <a:cs typeface="Calibri"/>
                <a:sym typeface="Calibri"/>
              </a:rPr>
              <a:t>PROPOSED METHODOLOGY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457200" y="530352"/>
            <a:ext cx="1127455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3550"/>
              </a:buClr>
              <a:buSzPts val="2700"/>
              <a:buFont typeface="Cambria"/>
              <a:buNone/>
            </a:pPr>
            <a:r>
              <a:rPr lang="en-US" sz="2700" b="1" i="0" u="none" strike="noStrike" cap="none">
                <a:solidFill>
                  <a:srgbClr val="1B3550"/>
                </a:solidFill>
                <a:latin typeface="Cambria"/>
                <a:ea typeface="Cambria"/>
                <a:cs typeface="Cambria"/>
                <a:sym typeface="Cambria"/>
              </a:rPr>
              <a:t>Pipeline Overview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457200" y="1417320"/>
            <a:ext cx="2615184" cy="1097280"/>
          </a:xfrm>
          <a:prstGeom prst="roundRect">
            <a:avLst>
              <a:gd name="adj" fmla="val 7500"/>
            </a:avLst>
          </a:prstGeom>
          <a:solidFill>
            <a:srgbClr val="E9F0F6"/>
          </a:solidFill>
          <a:ln w="15875" cap="flat" cmpd="sng">
            <a:solidFill>
              <a:srgbClr val="AFC4D6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5400000" algn="bl" rotWithShape="0">
              <a:srgbClr val="1B3550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0"/>
          <p:cNvSpPr/>
          <p:nvPr/>
        </p:nvSpPr>
        <p:spPr>
          <a:xfrm>
            <a:off x="566928" y="1417320"/>
            <a:ext cx="2395728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355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B3550"/>
                </a:solidFill>
                <a:latin typeface="Calibri"/>
                <a:ea typeface="Calibri"/>
                <a:cs typeface="Calibri"/>
                <a:sym typeface="Calibri"/>
              </a:rPr>
              <a:t>Query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292608" y="1252728"/>
            <a:ext cx="365760" cy="365760"/>
          </a:xfrm>
          <a:prstGeom prst="ellipse">
            <a:avLst/>
          </a:prstGeom>
          <a:solidFill>
            <a:srgbClr val="4F7398"/>
          </a:solidFill>
          <a:ln>
            <a:noFill/>
          </a:ln>
          <a:effectLst>
            <a:outerShdw blurRad="50800" dist="12700" dir="54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10"/>
          <p:cNvSpPr/>
          <p:nvPr/>
        </p:nvSpPr>
        <p:spPr>
          <a:xfrm>
            <a:off x="292608" y="125272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9" name="Google Shape;239;p10"/>
          <p:cNvCxnSpPr/>
          <p:nvPr/>
        </p:nvCxnSpPr>
        <p:spPr>
          <a:xfrm>
            <a:off x="3072384" y="1965960"/>
            <a:ext cx="274320" cy="0"/>
          </a:xfrm>
          <a:prstGeom prst="straightConnector1">
            <a:avLst/>
          </a:prstGeom>
          <a:noFill/>
          <a:ln w="22225" cap="flat" cmpd="sng">
            <a:solidFill>
              <a:srgbClr val="4F7398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40" name="Google Shape;240;p10"/>
          <p:cNvSpPr/>
          <p:nvPr/>
        </p:nvSpPr>
        <p:spPr>
          <a:xfrm>
            <a:off x="3346704" y="1417320"/>
            <a:ext cx="2615184" cy="1097280"/>
          </a:xfrm>
          <a:prstGeom prst="roundRect">
            <a:avLst>
              <a:gd name="adj" fmla="val 7500"/>
            </a:avLst>
          </a:prstGeom>
          <a:solidFill>
            <a:srgbClr val="E9F0F6"/>
          </a:solidFill>
          <a:ln w="15875" cap="flat" cmpd="sng">
            <a:solidFill>
              <a:srgbClr val="AFC4D6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5400000" algn="bl" rotWithShape="0">
              <a:srgbClr val="1B3550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10"/>
          <p:cNvSpPr/>
          <p:nvPr/>
        </p:nvSpPr>
        <p:spPr>
          <a:xfrm>
            <a:off x="3456432" y="1417320"/>
            <a:ext cx="2395728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355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B3550"/>
                </a:solidFill>
                <a:latin typeface="Calibri"/>
                <a:ea typeface="Calibri"/>
                <a:cs typeface="Calibri"/>
                <a:sym typeface="Calibri"/>
              </a:rPr>
              <a:t>Agent Routing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3182112" y="1252728"/>
            <a:ext cx="365760" cy="365760"/>
          </a:xfrm>
          <a:prstGeom prst="ellipse">
            <a:avLst/>
          </a:prstGeom>
          <a:solidFill>
            <a:srgbClr val="4F7398"/>
          </a:solidFill>
          <a:ln>
            <a:noFill/>
          </a:ln>
          <a:effectLst>
            <a:outerShdw blurRad="50800" dist="12700" dir="54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0"/>
          <p:cNvSpPr/>
          <p:nvPr/>
        </p:nvSpPr>
        <p:spPr>
          <a:xfrm>
            <a:off x="3182112" y="125272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4" name="Google Shape;244;p10"/>
          <p:cNvCxnSpPr/>
          <p:nvPr/>
        </p:nvCxnSpPr>
        <p:spPr>
          <a:xfrm>
            <a:off x="5961888" y="1965960"/>
            <a:ext cx="274320" cy="0"/>
          </a:xfrm>
          <a:prstGeom prst="straightConnector1">
            <a:avLst/>
          </a:prstGeom>
          <a:noFill/>
          <a:ln w="22225" cap="flat" cmpd="sng">
            <a:solidFill>
              <a:srgbClr val="4F7398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45" name="Google Shape;245;p10"/>
          <p:cNvSpPr/>
          <p:nvPr/>
        </p:nvSpPr>
        <p:spPr>
          <a:xfrm>
            <a:off x="6236208" y="1417320"/>
            <a:ext cx="2615184" cy="1097280"/>
          </a:xfrm>
          <a:prstGeom prst="roundRect">
            <a:avLst>
              <a:gd name="adj" fmla="val 7500"/>
            </a:avLst>
          </a:prstGeom>
          <a:solidFill>
            <a:srgbClr val="E9F0F6"/>
          </a:solidFill>
          <a:ln w="15875" cap="flat" cmpd="sng">
            <a:solidFill>
              <a:srgbClr val="AFC4D6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5400000" algn="bl" rotWithShape="0">
              <a:srgbClr val="1B3550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0"/>
          <p:cNvSpPr/>
          <p:nvPr/>
        </p:nvSpPr>
        <p:spPr>
          <a:xfrm>
            <a:off x="6345936" y="1417320"/>
            <a:ext cx="2395728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355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B3550"/>
                </a:solidFill>
                <a:latin typeface="Calibri"/>
                <a:ea typeface="Calibri"/>
                <a:cs typeface="Calibri"/>
                <a:sym typeface="Calibri"/>
              </a:rPr>
              <a:t>Independent Tool Retrieval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6071616" y="1252728"/>
            <a:ext cx="365760" cy="365760"/>
          </a:xfrm>
          <a:prstGeom prst="ellipse">
            <a:avLst/>
          </a:prstGeom>
          <a:solidFill>
            <a:srgbClr val="4F7398"/>
          </a:solidFill>
          <a:ln>
            <a:noFill/>
          </a:ln>
          <a:effectLst>
            <a:outerShdw blurRad="50800" dist="12700" dir="54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0"/>
          <p:cNvSpPr/>
          <p:nvPr/>
        </p:nvSpPr>
        <p:spPr>
          <a:xfrm>
            <a:off x="6071616" y="125272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9" name="Google Shape;249;p10"/>
          <p:cNvCxnSpPr/>
          <p:nvPr/>
        </p:nvCxnSpPr>
        <p:spPr>
          <a:xfrm>
            <a:off x="8851392" y="1965960"/>
            <a:ext cx="274320" cy="0"/>
          </a:xfrm>
          <a:prstGeom prst="straightConnector1">
            <a:avLst/>
          </a:prstGeom>
          <a:noFill/>
          <a:ln w="22225" cap="flat" cmpd="sng">
            <a:solidFill>
              <a:srgbClr val="4F7398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50" name="Google Shape;250;p10"/>
          <p:cNvSpPr/>
          <p:nvPr/>
        </p:nvSpPr>
        <p:spPr>
          <a:xfrm>
            <a:off x="9125712" y="1417320"/>
            <a:ext cx="2615184" cy="1097280"/>
          </a:xfrm>
          <a:prstGeom prst="roundRect">
            <a:avLst>
              <a:gd name="adj" fmla="val 7500"/>
            </a:avLst>
          </a:prstGeom>
          <a:solidFill>
            <a:srgbClr val="E9F0F6"/>
          </a:solidFill>
          <a:ln w="15875" cap="flat" cmpd="sng">
            <a:solidFill>
              <a:srgbClr val="AFC4D6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5400000" algn="bl" rotWithShape="0">
              <a:srgbClr val="1B3550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0"/>
          <p:cNvSpPr/>
          <p:nvPr/>
        </p:nvSpPr>
        <p:spPr>
          <a:xfrm>
            <a:off x="9235440" y="1417320"/>
            <a:ext cx="2395728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355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B3550"/>
                </a:solidFill>
                <a:latin typeface="Calibri"/>
                <a:ea typeface="Calibri"/>
                <a:cs typeface="Calibri"/>
                <a:sym typeface="Calibri"/>
              </a:rPr>
              <a:t>Cross-Source Evidence Comparison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8961120" y="1252728"/>
            <a:ext cx="365760" cy="365760"/>
          </a:xfrm>
          <a:prstGeom prst="ellipse">
            <a:avLst/>
          </a:prstGeom>
          <a:solidFill>
            <a:srgbClr val="4F7398"/>
          </a:solidFill>
          <a:ln>
            <a:noFill/>
          </a:ln>
          <a:effectLst>
            <a:outerShdw blurRad="50800" dist="12700" dir="54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10"/>
          <p:cNvSpPr/>
          <p:nvPr/>
        </p:nvSpPr>
        <p:spPr>
          <a:xfrm>
            <a:off x="8961120" y="125272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4" name="Google Shape;254;p10"/>
          <p:cNvCxnSpPr/>
          <p:nvPr/>
        </p:nvCxnSpPr>
        <p:spPr>
          <a:xfrm>
            <a:off x="10433304" y="2514600"/>
            <a:ext cx="0" cy="731520"/>
          </a:xfrm>
          <a:prstGeom prst="straightConnector1">
            <a:avLst/>
          </a:prstGeom>
          <a:noFill/>
          <a:ln w="22225" cap="flat" cmpd="sng">
            <a:solidFill>
              <a:srgbClr val="4F7398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55" name="Google Shape;255;p10"/>
          <p:cNvSpPr/>
          <p:nvPr/>
        </p:nvSpPr>
        <p:spPr>
          <a:xfrm>
            <a:off x="9125712" y="3246120"/>
            <a:ext cx="2615184" cy="1097280"/>
          </a:xfrm>
          <a:prstGeom prst="roundRect">
            <a:avLst>
              <a:gd name="adj" fmla="val 7500"/>
            </a:avLst>
          </a:prstGeom>
          <a:solidFill>
            <a:srgbClr val="F1E1C9"/>
          </a:solidFill>
          <a:ln w="15875" cap="flat" cmpd="sng">
            <a:solidFill>
              <a:srgbClr val="B0793F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5400000" algn="bl" rotWithShape="0">
              <a:srgbClr val="1B3550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0"/>
          <p:cNvSpPr/>
          <p:nvPr/>
        </p:nvSpPr>
        <p:spPr>
          <a:xfrm>
            <a:off x="9235440" y="3246120"/>
            <a:ext cx="2395728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C5F2D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8C5F2D"/>
                </a:solidFill>
                <a:latin typeface="Calibri"/>
                <a:ea typeface="Calibri"/>
                <a:cs typeface="Calibri"/>
                <a:sym typeface="Calibri"/>
              </a:rPr>
              <a:t>Evidence Disagreement Trigger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8961120" y="3081528"/>
            <a:ext cx="365760" cy="365760"/>
          </a:xfrm>
          <a:prstGeom prst="ellipse">
            <a:avLst/>
          </a:prstGeom>
          <a:solidFill>
            <a:srgbClr val="B0793F"/>
          </a:solidFill>
          <a:ln>
            <a:noFill/>
          </a:ln>
          <a:effectLst>
            <a:outerShdw blurRad="50800" dist="12700" dir="54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0"/>
          <p:cNvSpPr/>
          <p:nvPr/>
        </p:nvSpPr>
        <p:spPr>
          <a:xfrm>
            <a:off x="8961120" y="308152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6236208" y="3246120"/>
            <a:ext cx="2615184" cy="1097280"/>
          </a:xfrm>
          <a:prstGeom prst="roundRect">
            <a:avLst>
              <a:gd name="adj" fmla="val 7500"/>
            </a:avLst>
          </a:prstGeom>
          <a:solidFill>
            <a:srgbClr val="F1E1C9"/>
          </a:solidFill>
          <a:ln w="15875" cap="flat" cmpd="sng">
            <a:solidFill>
              <a:srgbClr val="B0793F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5400000" algn="bl" rotWithShape="0">
              <a:srgbClr val="1B3550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0"/>
          <p:cNvSpPr/>
          <p:nvPr/>
        </p:nvSpPr>
        <p:spPr>
          <a:xfrm>
            <a:off x="6345936" y="3246120"/>
            <a:ext cx="2395728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C5F2D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8C5F2D"/>
                </a:solidFill>
                <a:latin typeface="Calibri"/>
                <a:ea typeface="Calibri"/>
                <a:cs typeface="Calibri"/>
                <a:sym typeface="Calibri"/>
              </a:rPr>
              <a:t>Conflict-Type Classification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6071616" y="3081528"/>
            <a:ext cx="365760" cy="365760"/>
          </a:xfrm>
          <a:prstGeom prst="ellipse">
            <a:avLst/>
          </a:prstGeom>
          <a:solidFill>
            <a:srgbClr val="B0793F"/>
          </a:solidFill>
          <a:ln>
            <a:noFill/>
          </a:ln>
          <a:effectLst>
            <a:outerShdw blurRad="50800" dist="12700" dir="54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0"/>
          <p:cNvSpPr/>
          <p:nvPr/>
        </p:nvSpPr>
        <p:spPr>
          <a:xfrm>
            <a:off x="6071616" y="308152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3346704" y="3246120"/>
            <a:ext cx="2615184" cy="1097280"/>
          </a:xfrm>
          <a:prstGeom prst="roundRect">
            <a:avLst>
              <a:gd name="adj" fmla="val 7500"/>
            </a:avLst>
          </a:prstGeom>
          <a:solidFill>
            <a:srgbClr val="E9F0F6"/>
          </a:solidFill>
          <a:ln w="15875" cap="flat" cmpd="sng">
            <a:solidFill>
              <a:srgbClr val="AFC4D6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5400000" algn="bl" rotWithShape="0">
              <a:srgbClr val="1B3550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10"/>
          <p:cNvSpPr/>
          <p:nvPr/>
        </p:nvSpPr>
        <p:spPr>
          <a:xfrm>
            <a:off x="3456432" y="3246120"/>
            <a:ext cx="2395728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355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B3550"/>
                </a:solidFill>
                <a:latin typeface="Calibri"/>
                <a:ea typeface="Calibri"/>
                <a:cs typeface="Calibri"/>
                <a:sym typeface="Calibri"/>
              </a:rPr>
              <a:t>Conflict-Aware Debate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355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B3550"/>
                </a:solidFill>
                <a:latin typeface="Calibri"/>
                <a:ea typeface="Calibri"/>
                <a:cs typeface="Calibri"/>
                <a:sym typeface="Calibri"/>
              </a:rPr>
              <a:t>(Propose → Critique → Revise)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3182112" y="3081528"/>
            <a:ext cx="365760" cy="365760"/>
          </a:xfrm>
          <a:prstGeom prst="ellipse">
            <a:avLst/>
          </a:prstGeom>
          <a:solidFill>
            <a:srgbClr val="4F7398"/>
          </a:solidFill>
          <a:ln>
            <a:noFill/>
          </a:ln>
          <a:effectLst>
            <a:outerShdw blurRad="50800" dist="12700" dir="54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0"/>
          <p:cNvSpPr/>
          <p:nvPr/>
        </p:nvSpPr>
        <p:spPr>
          <a:xfrm>
            <a:off x="3182112" y="308152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457200" y="3246120"/>
            <a:ext cx="2615184" cy="1097280"/>
          </a:xfrm>
          <a:prstGeom prst="roundRect">
            <a:avLst>
              <a:gd name="adj" fmla="val 7500"/>
            </a:avLst>
          </a:prstGeom>
          <a:solidFill>
            <a:srgbClr val="E9F0F6"/>
          </a:solidFill>
          <a:ln w="15875" cap="flat" cmpd="sng">
            <a:solidFill>
              <a:srgbClr val="AFC4D6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5400000" algn="bl" rotWithShape="0">
              <a:srgbClr val="1B3550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10"/>
          <p:cNvSpPr/>
          <p:nvPr/>
        </p:nvSpPr>
        <p:spPr>
          <a:xfrm>
            <a:off x="566928" y="3246120"/>
            <a:ext cx="2395728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355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B3550"/>
                </a:solidFill>
                <a:latin typeface="Calibri"/>
                <a:ea typeface="Calibri"/>
                <a:cs typeface="Calibri"/>
                <a:sym typeface="Calibri"/>
              </a:rPr>
              <a:t>Judge &amp; Final Answer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292608" y="3081528"/>
            <a:ext cx="365760" cy="365760"/>
          </a:xfrm>
          <a:prstGeom prst="ellipse">
            <a:avLst/>
          </a:prstGeom>
          <a:solidFill>
            <a:srgbClr val="4F7398"/>
          </a:solidFill>
          <a:ln>
            <a:noFill/>
          </a:ln>
          <a:effectLst>
            <a:outerShdw blurRad="50800" dist="12700" dir="54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10"/>
          <p:cNvSpPr/>
          <p:nvPr/>
        </p:nvSpPr>
        <p:spPr>
          <a:xfrm>
            <a:off x="292608" y="308152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1" name="Google Shape;271;p10"/>
          <p:cNvCxnSpPr/>
          <p:nvPr/>
        </p:nvCxnSpPr>
        <p:spPr>
          <a:xfrm>
            <a:off x="8851392" y="3794760"/>
            <a:ext cx="274320" cy="0"/>
          </a:xfrm>
          <a:prstGeom prst="straightConnector1">
            <a:avLst/>
          </a:prstGeom>
          <a:noFill/>
          <a:ln w="22225" cap="flat" cmpd="sng">
            <a:solidFill>
              <a:srgbClr val="4F7398"/>
            </a:solidFill>
            <a:prstDash val="solid"/>
            <a:round/>
            <a:headEnd type="triangle" w="med" len="med"/>
            <a:tailEnd type="none" w="sm" len="sm"/>
          </a:ln>
        </p:spPr>
      </p:cxnSp>
      <p:cxnSp>
        <p:nvCxnSpPr>
          <p:cNvPr id="272" name="Google Shape;272;p10"/>
          <p:cNvCxnSpPr/>
          <p:nvPr/>
        </p:nvCxnSpPr>
        <p:spPr>
          <a:xfrm>
            <a:off x="5961888" y="3794760"/>
            <a:ext cx="274320" cy="0"/>
          </a:xfrm>
          <a:prstGeom prst="straightConnector1">
            <a:avLst/>
          </a:prstGeom>
          <a:noFill/>
          <a:ln w="22225" cap="flat" cmpd="sng">
            <a:solidFill>
              <a:srgbClr val="4F7398"/>
            </a:solidFill>
            <a:prstDash val="solid"/>
            <a:round/>
            <a:headEnd type="triangle" w="med" len="med"/>
            <a:tailEnd type="none" w="sm" len="sm"/>
          </a:ln>
        </p:spPr>
      </p:cxnSp>
      <p:cxnSp>
        <p:nvCxnSpPr>
          <p:cNvPr id="273" name="Google Shape;273;p10"/>
          <p:cNvCxnSpPr/>
          <p:nvPr/>
        </p:nvCxnSpPr>
        <p:spPr>
          <a:xfrm>
            <a:off x="3072384" y="3794760"/>
            <a:ext cx="274320" cy="0"/>
          </a:xfrm>
          <a:prstGeom prst="straightConnector1">
            <a:avLst/>
          </a:prstGeom>
          <a:noFill/>
          <a:ln w="22225" cap="flat" cmpd="sng">
            <a:solidFill>
              <a:srgbClr val="4F7398"/>
            </a:solidFill>
            <a:prstDash val="solid"/>
            <a:round/>
            <a:headEnd type="triangle" w="med" len="med"/>
            <a:tailEnd type="none" w="sm" len="sm"/>
          </a:ln>
        </p:spPr>
      </p:cxnSp>
      <p:sp>
        <p:nvSpPr>
          <p:cNvPr id="274" name="Google Shape;274;p10"/>
          <p:cNvSpPr/>
          <p:nvPr/>
        </p:nvSpPr>
        <p:spPr>
          <a:xfrm>
            <a:off x="457200" y="4663440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E9F0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10"/>
          <p:cNvSpPr/>
          <p:nvPr/>
        </p:nvSpPr>
        <p:spPr>
          <a:xfrm>
            <a:off x="749808" y="4608576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0808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70808F"/>
                </a:solidFill>
                <a:latin typeface="Calibri"/>
                <a:ea typeface="Calibri"/>
                <a:cs typeface="Calibri"/>
                <a:sym typeface="Calibri"/>
              </a:rPr>
              <a:t>Existing MAD component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0"/>
          <p:cNvSpPr/>
          <p:nvPr/>
        </p:nvSpPr>
        <p:spPr>
          <a:xfrm>
            <a:off x="3474720" y="4663440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F1E1C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10"/>
          <p:cNvSpPr/>
          <p:nvPr/>
        </p:nvSpPr>
        <p:spPr>
          <a:xfrm>
            <a:off x="3767328" y="4608576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0808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70808F"/>
                </a:solidFill>
                <a:latin typeface="Calibri"/>
                <a:ea typeface="Calibri"/>
                <a:cs typeface="Calibri"/>
                <a:sym typeface="Calibri"/>
              </a:rPr>
              <a:t>Proposed novel component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0"/>
          <p:cNvSpPr/>
          <p:nvPr/>
        </p:nvSpPr>
        <p:spPr>
          <a:xfrm>
            <a:off x="475488" y="5440680"/>
            <a:ext cx="1127455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0808F"/>
              </a:buClr>
              <a:buSzPts val="1100"/>
              <a:buFont typeface="Calibri"/>
              <a:buNone/>
            </a:pPr>
            <a:r>
              <a:rPr lang="en-US" b="0" i="1" u="none" strike="noStrike" cap="none" dirty="0">
                <a:solidFill>
                  <a:srgbClr val="70808F"/>
                </a:solidFill>
                <a:latin typeface="Calibri"/>
                <a:ea typeface="Calibri"/>
                <a:cs typeface="Calibri"/>
                <a:sym typeface="Calibri"/>
              </a:rPr>
              <a:t>Note:  Step 5 acts as a gate. When independently retrieved evidence already agrees, the pipeline skips directly to Step 8 (Judge &amp; Final Answer), bypassing conflict classification and debate.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1"/>
          <p:cNvSpPr/>
          <p:nvPr/>
        </p:nvSpPr>
        <p:spPr>
          <a:xfrm>
            <a:off x="457200" y="29260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5F2D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8C5F2D"/>
                </a:solidFill>
                <a:latin typeface="Calibri"/>
                <a:ea typeface="Calibri"/>
                <a:cs typeface="Calibri"/>
                <a:sym typeface="Calibri"/>
              </a:rPr>
              <a:t>PROPOSED METHODOLOGY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1"/>
          <p:cNvSpPr/>
          <p:nvPr/>
        </p:nvSpPr>
        <p:spPr>
          <a:xfrm>
            <a:off x="457200" y="530352"/>
            <a:ext cx="1127455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3550"/>
              </a:buClr>
              <a:buSzPts val="2700"/>
              <a:buFont typeface="Cambria"/>
              <a:buNone/>
            </a:pPr>
            <a:r>
              <a:rPr lang="en-US" sz="2700" b="1" i="0" u="none" strike="noStrike" cap="none">
                <a:solidFill>
                  <a:srgbClr val="1B3550"/>
                </a:solidFill>
                <a:latin typeface="Cambria"/>
                <a:ea typeface="Cambria"/>
                <a:cs typeface="Cambria"/>
                <a:sym typeface="Cambria"/>
              </a:rPr>
              <a:t>Core Novel Stages, Explained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1"/>
          <p:cNvSpPr/>
          <p:nvPr/>
        </p:nvSpPr>
        <p:spPr>
          <a:xfrm>
            <a:off x="457200" y="1234440"/>
            <a:ext cx="5440680" cy="3200400"/>
          </a:xfrm>
          <a:prstGeom prst="roundRect">
            <a:avLst>
              <a:gd name="adj" fmla="val 2286"/>
            </a:avLst>
          </a:prstGeom>
          <a:solidFill>
            <a:srgbClr val="F4F8FB"/>
          </a:solidFill>
          <a:ln w="12700" cap="flat" cmpd="sng">
            <a:solidFill>
              <a:srgbClr val="AFC4D6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B355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11"/>
          <p:cNvSpPr/>
          <p:nvPr/>
        </p:nvSpPr>
        <p:spPr>
          <a:xfrm>
            <a:off x="658368" y="1435608"/>
            <a:ext cx="512064" cy="512064"/>
          </a:xfrm>
          <a:prstGeom prst="ellipse">
            <a:avLst/>
          </a:prstGeom>
          <a:solidFill>
            <a:srgbClr val="B0793F"/>
          </a:solidFill>
          <a:ln>
            <a:noFill/>
          </a:ln>
          <a:effectLst>
            <a:outerShdw blurRad="50800" dist="12700" dir="54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1"/>
          <p:cNvSpPr/>
          <p:nvPr/>
        </p:nvSpPr>
        <p:spPr>
          <a:xfrm>
            <a:off x="658368" y="1435608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1"/>
          <p:cNvSpPr/>
          <p:nvPr/>
        </p:nvSpPr>
        <p:spPr>
          <a:xfrm>
            <a:off x="1280160" y="1453896"/>
            <a:ext cx="43434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3550"/>
              </a:buClr>
              <a:buSzPts val="1550"/>
              <a:buFont typeface="Cambria"/>
              <a:buNone/>
            </a:pPr>
            <a:r>
              <a:rPr lang="en-US" sz="1550" b="1" i="0" u="none" strike="noStrike" cap="none">
                <a:solidFill>
                  <a:srgbClr val="1B3550"/>
                </a:solidFill>
                <a:latin typeface="Cambria"/>
                <a:ea typeface="Cambria"/>
                <a:cs typeface="Cambria"/>
                <a:sym typeface="Cambria"/>
              </a:rPr>
              <a:t>Evidence Disagreement Trigger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1"/>
          <p:cNvSpPr/>
          <p:nvPr/>
        </p:nvSpPr>
        <p:spPr>
          <a:xfrm>
            <a:off x="777240" y="2231136"/>
            <a:ext cx="82296" cy="82296"/>
          </a:xfrm>
          <a:prstGeom prst="ellipse">
            <a:avLst/>
          </a:prstGeom>
          <a:solidFill>
            <a:srgbClr val="B079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50"/>
          </a:p>
        </p:txBody>
      </p:sp>
      <p:sp>
        <p:nvSpPr>
          <p:cNvPr id="291" name="Google Shape;291;p11"/>
          <p:cNvSpPr/>
          <p:nvPr/>
        </p:nvSpPr>
        <p:spPr>
          <a:xfrm>
            <a:off x="1005840" y="2093976"/>
            <a:ext cx="45720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6313B"/>
              </a:buClr>
              <a:buSzPts val="1150"/>
              <a:buFont typeface="Calibri"/>
              <a:buNone/>
            </a:pPr>
            <a:r>
              <a:rPr lang="en-US" sz="1250" b="0" i="0" u="none" strike="noStrike" cap="none">
                <a:solidFill>
                  <a:srgbClr val="26313B"/>
                </a:solidFill>
                <a:latin typeface="Calibri"/>
                <a:ea typeface="Calibri"/>
                <a:cs typeface="Calibri"/>
                <a:sym typeface="Calibri"/>
              </a:rPr>
              <a:t>Agents independently retrieve evidence using tools (web search / RAG).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1"/>
          <p:cNvSpPr/>
          <p:nvPr/>
        </p:nvSpPr>
        <p:spPr>
          <a:xfrm>
            <a:off x="777240" y="2798064"/>
            <a:ext cx="82296" cy="82296"/>
          </a:xfrm>
          <a:prstGeom prst="ellipse">
            <a:avLst/>
          </a:prstGeom>
          <a:solidFill>
            <a:srgbClr val="B079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50"/>
          </a:p>
        </p:txBody>
      </p:sp>
      <p:sp>
        <p:nvSpPr>
          <p:cNvPr id="293" name="Google Shape;293;p11"/>
          <p:cNvSpPr/>
          <p:nvPr/>
        </p:nvSpPr>
        <p:spPr>
          <a:xfrm>
            <a:off x="1005840" y="2660904"/>
            <a:ext cx="45720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6313B"/>
              </a:buClr>
              <a:buSzPts val="1150"/>
              <a:buFont typeface="Calibri"/>
              <a:buNone/>
            </a:pPr>
            <a:r>
              <a:rPr lang="en-US" sz="1250" b="0" i="0" u="none" strike="noStrike" cap="none">
                <a:solidFill>
                  <a:srgbClr val="26313B"/>
                </a:solidFill>
                <a:latin typeface="Calibri"/>
                <a:ea typeface="Calibri"/>
                <a:cs typeface="Calibri"/>
                <a:sym typeface="Calibri"/>
              </a:rPr>
              <a:t>A lightweight disagreement detector (e.g. NLI-based contradiction score) compares the evidence-grounded answers.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1"/>
          <p:cNvSpPr/>
          <p:nvPr/>
        </p:nvSpPr>
        <p:spPr>
          <a:xfrm>
            <a:off x="777240" y="3364992"/>
            <a:ext cx="82296" cy="82296"/>
          </a:xfrm>
          <a:prstGeom prst="ellipse">
            <a:avLst/>
          </a:prstGeom>
          <a:solidFill>
            <a:srgbClr val="B079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50"/>
          </a:p>
        </p:txBody>
      </p:sp>
      <p:sp>
        <p:nvSpPr>
          <p:cNvPr id="295" name="Google Shape;295;p11"/>
          <p:cNvSpPr/>
          <p:nvPr/>
        </p:nvSpPr>
        <p:spPr>
          <a:xfrm>
            <a:off x="1005840" y="3227832"/>
            <a:ext cx="45720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6313B"/>
              </a:buClr>
              <a:buSzPts val="1150"/>
              <a:buFont typeface="Calibri"/>
              <a:buNone/>
            </a:pPr>
            <a:r>
              <a:rPr lang="en-US" sz="1250" b="0" i="0" u="none" strike="noStrike" cap="none">
                <a:solidFill>
                  <a:srgbClr val="26313B"/>
                </a:solidFill>
                <a:latin typeface="Calibri"/>
                <a:ea typeface="Calibri"/>
                <a:cs typeface="Calibri"/>
                <a:sym typeface="Calibri"/>
              </a:rPr>
              <a:t>If evidence agrees → skip debate, aggregate directly (saves compute).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1"/>
          <p:cNvSpPr/>
          <p:nvPr/>
        </p:nvSpPr>
        <p:spPr>
          <a:xfrm>
            <a:off x="777240" y="3931920"/>
            <a:ext cx="82296" cy="82296"/>
          </a:xfrm>
          <a:prstGeom prst="ellipse">
            <a:avLst/>
          </a:prstGeom>
          <a:solidFill>
            <a:srgbClr val="B079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50"/>
          </a:p>
        </p:txBody>
      </p:sp>
      <p:sp>
        <p:nvSpPr>
          <p:cNvPr id="297" name="Google Shape;297;p11"/>
          <p:cNvSpPr/>
          <p:nvPr/>
        </p:nvSpPr>
        <p:spPr>
          <a:xfrm>
            <a:off x="1005840" y="3794760"/>
            <a:ext cx="45720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6313B"/>
              </a:buClr>
              <a:buSzPts val="1150"/>
              <a:buFont typeface="Calibri"/>
              <a:buNone/>
            </a:pPr>
            <a:r>
              <a:rPr lang="en-US" sz="1250" b="0" i="0" u="none" strike="noStrike" cap="none" dirty="0">
                <a:solidFill>
                  <a:srgbClr val="26313B"/>
                </a:solidFill>
                <a:latin typeface="Calibri"/>
                <a:ea typeface="Calibri"/>
                <a:cs typeface="Calibri"/>
                <a:sym typeface="Calibri"/>
              </a:rPr>
              <a:t>If evidence disagrees → trigger the debate stage.</a:t>
            </a:r>
            <a:endParaRPr sz="12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1"/>
          <p:cNvSpPr/>
          <p:nvPr/>
        </p:nvSpPr>
        <p:spPr>
          <a:xfrm>
            <a:off x="6309360" y="1234440"/>
            <a:ext cx="5440680" cy="3200400"/>
          </a:xfrm>
          <a:prstGeom prst="roundRect">
            <a:avLst>
              <a:gd name="adj" fmla="val 2286"/>
            </a:avLst>
          </a:prstGeom>
          <a:solidFill>
            <a:srgbClr val="F4F8FB"/>
          </a:solidFill>
          <a:ln w="12700" cap="flat" cmpd="sng">
            <a:solidFill>
              <a:srgbClr val="AFC4D6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B355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11"/>
          <p:cNvSpPr/>
          <p:nvPr/>
        </p:nvSpPr>
        <p:spPr>
          <a:xfrm>
            <a:off x="6510528" y="1435608"/>
            <a:ext cx="512064" cy="512064"/>
          </a:xfrm>
          <a:prstGeom prst="ellipse">
            <a:avLst/>
          </a:prstGeom>
          <a:solidFill>
            <a:srgbClr val="B0793F"/>
          </a:solidFill>
          <a:ln>
            <a:noFill/>
          </a:ln>
          <a:effectLst>
            <a:outerShdw blurRad="50800" dist="12700" dir="54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11"/>
          <p:cNvSpPr/>
          <p:nvPr/>
        </p:nvSpPr>
        <p:spPr>
          <a:xfrm>
            <a:off x="6510528" y="1435608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1"/>
          <p:cNvSpPr/>
          <p:nvPr/>
        </p:nvSpPr>
        <p:spPr>
          <a:xfrm>
            <a:off x="7132320" y="1453896"/>
            <a:ext cx="43434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3550"/>
              </a:buClr>
              <a:buSzPts val="1550"/>
              <a:buFont typeface="Cambria"/>
              <a:buNone/>
            </a:pPr>
            <a:r>
              <a:rPr lang="en-US" sz="1550" b="1" i="0" u="none" strike="noStrike" cap="none">
                <a:solidFill>
                  <a:srgbClr val="1B3550"/>
                </a:solidFill>
                <a:latin typeface="Cambria"/>
                <a:ea typeface="Cambria"/>
                <a:cs typeface="Cambria"/>
                <a:sym typeface="Cambria"/>
              </a:rPr>
              <a:t>Conflict-Type Classification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1"/>
          <p:cNvSpPr/>
          <p:nvPr/>
        </p:nvSpPr>
        <p:spPr>
          <a:xfrm>
            <a:off x="6629400" y="2231136"/>
            <a:ext cx="82296" cy="82296"/>
          </a:xfrm>
          <a:prstGeom prst="ellipse">
            <a:avLst/>
          </a:prstGeom>
          <a:solidFill>
            <a:srgbClr val="B079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50"/>
          </a:p>
        </p:txBody>
      </p:sp>
      <p:sp>
        <p:nvSpPr>
          <p:cNvPr id="303" name="Google Shape;303;p11"/>
          <p:cNvSpPr/>
          <p:nvPr/>
        </p:nvSpPr>
        <p:spPr>
          <a:xfrm>
            <a:off x="6858000" y="2093976"/>
            <a:ext cx="45720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6313B"/>
              </a:buClr>
              <a:buSzPts val="1150"/>
              <a:buFont typeface="Calibri"/>
              <a:buNone/>
            </a:pPr>
            <a:r>
              <a:rPr lang="en-US" sz="1250" b="0" i="0" u="none" strike="noStrike" cap="none">
                <a:solidFill>
                  <a:srgbClr val="26313B"/>
                </a:solidFill>
                <a:latin typeface="Calibri"/>
                <a:ea typeface="Calibri"/>
                <a:cs typeface="Calibri"/>
                <a:sym typeface="Calibri"/>
              </a:rPr>
              <a:t>Detected disagreement is classified: Factual, Temporal, Version, Contextual, or Source disagreement.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1"/>
          <p:cNvSpPr/>
          <p:nvPr/>
        </p:nvSpPr>
        <p:spPr>
          <a:xfrm>
            <a:off x="6629400" y="2916936"/>
            <a:ext cx="82296" cy="82296"/>
          </a:xfrm>
          <a:prstGeom prst="ellipse">
            <a:avLst/>
          </a:prstGeom>
          <a:solidFill>
            <a:srgbClr val="B079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50"/>
          </a:p>
        </p:txBody>
      </p:sp>
      <p:sp>
        <p:nvSpPr>
          <p:cNvPr id="305" name="Google Shape;305;p11"/>
          <p:cNvSpPr/>
          <p:nvPr/>
        </p:nvSpPr>
        <p:spPr>
          <a:xfrm>
            <a:off x="6858000" y="2779776"/>
            <a:ext cx="45720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6313B"/>
              </a:buClr>
              <a:buSzPts val="1150"/>
              <a:buFont typeface="Calibri"/>
              <a:buNone/>
            </a:pPr>
            <a:r>
              <a:rPr lang="en-US" sz="1250" b="0" i="0" u="none" strike="noStrike" cap="none">
                <a:solidFill>
                  <a:srgbClr val="26313B"/>
                </a:solidFill>
                <a:latin typeface="Calibri"/>
                <a:ea typeface="Calibri"/>
                <a:cs typeface="Calibri"/>
                <a:sym typeface="Calibri"/>
              </a:rPr>
              <a:t>The classified type is passed to the debating agents as shared context.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1"/>
          <p:cNvSpPr/>
          <p:nvPr/>
        </p:nvSpPr>
        <p:spPr>
          <a:xfrm>
            <a:off x="6629400" y="3602736"/>
            <a:ext cx="82296" cy="82296"/>
          </a:xfrm>
          <a:prstGeom prst="ellipse">
            <a:avLst/>
          </a:prstGeom>
          <a:solidFill>
            <a:srgbClr val="B079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50"/>
          </a:p>
        </p:txBody>
      </p:sp>
      <p:sp>
        <p:nvSpPr>
          <p:cNvPr id="307" name="Google Shape;307;p11"/>
          <p:cNvSpPr/>
          <p:nvPr/>
        </p:nvSpPr>
        <p:spPr>
          <a:xfrm>
            <a:off x="6858000" y="3465576"/>
            <a:ext cx="45720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6313B"/>
              </a:buClr>
              <a:buSzPts val="1150"/>
              <a:buFont typeface="Calibri"/>
              <a:buNone/>
            </a:pPr>
            <a:r>
              <a:rPr lang="en-US" sz="1250" b="0" i="0" u="none" strike="noStrike" cap="none">
                <a:solidFill>
                  <a:srgbClr val="26313B"/>
                </a:solidFill>
                <a:latin typeface="Calibri"/>
                <a:ea typeface="Calibri"/>
                <a:cs typeface="Calibri"/>
                <a:sym typeface="Calibri"/>
              </a:rPr>
              <a:t>The propose → critique → revise debate is guided by this type, instead of one fixed strategy for every case.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08" name="Google Shape;308;p11"/>
          <p:cNvGraphicFramePr/>
          <p:nvPr/>
        </p:nvGraphicFramePr>
        <p:xfrm>
          <a:off x="457200" y="4709160"/>
          <a:ext cx="11274550" cy="1600200"/>
        </p:xfrm>
        <a:graphic>
          <a:graphicData uri="http://schemas.openxmlformats.org/drawingml/2006/table">
            <a:tbl>
              <a:tblPr>
                <a:noFill/>
                <a:tableStyleId>{DEDD2F82-8075-4A76-8C37-0F7348E3757F}</a:tableStyleId>
              </a:tblPr>
              <a:tblGrid>
                <a:gridCol w="237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43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53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Aspect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50800" marB="508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35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Standard MAD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50800" marB="508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35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Our Approach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50800" marB="508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313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631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Debate frequency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50800" marB="508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808F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7080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Always runs, every query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50800" marB="508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C5F2D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b="1" u="none" strike="noStrike" cap="none">
                          <a:solidFill>
                            <a:srgbClr val="8C5F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Only when evidence disagrees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50800" marB="508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E1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313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2631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Debate strategy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50800" marB="508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808F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strike="noStrike" cap="none">
                          <a:solidFill>
                            <a:srgbClr val="7080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One fixed protocol for all cases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50800" marB="508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C5F2D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b="1" u="none" strike="noStrike" cap="none">
                          <a:solidFill>
                            <a:srgbClr val="8C5F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Matched to the classified conflict type</a:t>
                      </a:r>
                      <a:endParaRPr sz="11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600" marR="101600" marT="50800" marB="508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E1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2"/>
          <p:cNvSpPr/>
          <p:nvPr/>
        </p:nvSpPr>
        <p:spPr>
          <a:xfrm>
            <a:off x="457200" y="29260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5F2D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8C5F2D"/>
                </a:solidFill>
                <a:latin typeface="Calibri"/>
                <a:ea typeface="Calibri"/>
                <a:cs typeface="Calibri"/>
                <a:sym typeface="Calibri"/>
              </a:rPr>
              <a:t>SYSTEM DESIGN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2"/>
          <p:cNvSpPr/>
          <p:nvPr/>
        </p:nvSpPr>
        <p:spPr>
          <a:xfrm>
            <a:off x="457200" y="530352"/>
            <a:ext cx="1127455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3550"/>
              </a:buClr>
              <a:buSzPts val="2700"/>
              <a:buFont typeface="Cambria"/>
              <a:buNone/>
            </a:pPr>
            <a:r>
              <a:rPr lang="en-US" sz="2700" b="1" i="0" u="none" strike="noStrike" cap="none">
                <a:solidFill>
                  <a:srgbClr val="1B3550"/>
                </a:solidFill>
                <a:latin typeface="Cambria"/>
                <a:ea typeface="Cambria"/>
                <a:cs typeface="Cambria"/>
                <a:sym typeface="Cambria"/>
              </a:rPr>
              <a:t>Module Architecture — Flow of Control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2"/>
          <p:cNvSpPr/>
          <p:nvPr/>
        </p:nvSpPr>
        <p:spPr>
          <a:xfrm>
            <a:off x="457200" y="1417320"/>
            <a:ext cx="2615184" cy="1097280"/>
          </a:xfrm>
          <a:prstGeom prst="roundRect">
            <a:avLst>
              <a:gd name="adj" fmla="val 7500"/>
            </a:avLst>
          </a:prstGeom>
          <a:solidFill>
            <a:srgbClr val="E9F0F6"/>
          </a:solidFill>
          <a:ln w="15875" cap="flat" cmpd="sng">
            <a:solidFill>
              <a:srgbClr val="AFC4D6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5400000" algn="bl" rotWithShape="0">
              <a:srgbClr val="1B3550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12"/>
          <p:cNvSpPr/>
          <p:nvPr/>
        </p:nvSpPr>
        <p:spPr>
          <a:xfrm>
            <a:off x="566928" y="1417320"/>
            <a:ext cx="2395728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355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B3550"/>
                </a:solidFill>
                <a:latin typeface="Calibri"/>
                <a:ea typeface="Calibri"/>
                <a:cs typeface="Calibri"/>
                <a:sym typeface="Calibri"/>
              </a:rPr>
              <a:t>Query Router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2"/>
          <p:cNvSpPr/>
          <p:nvPr/>
        </p:nvSpPr>
        <p:spPr>
          <a:xfrm>
            <a:off x="292608" y="1252728"/>
            <a:ext cx="365760" cy="365760"/>
          </a:xfrm>
          <a:prstGeom prst="ellipse">
            <a:avLst/>
          </a:prstGeom>
          <a:solidFill>
            <a:srgbClr val="4F7398"/>
          </a:solidFill>
          <a:ln>
            <a:noFill/>
          </a:ln>
          <a:effectLst>
            <a:outerShdw blurRad="50800" dist="12700" dir="54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12"/>
          <p:cNvSpPr/>
          <p:nvPr/>
        </p:nvSpPr>
        <p:spPr>
          <a:xfrm>
            <a:off x="292608" y="125272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0" name="Google Shape;320;p12"/>
          <p:cNvCxnSpPr/>
          <p:nvPr/>
        </p:nvCxnSpPr>
        <p:spPr>
          <a:xfrm>
            <a:off x="3072384" y="1965960"/>
            <a:ext cx="274320" cy="0"/>
          </a:xfrm>
          <a:prstGeom prst="straightConnector1">
            <a:avLst/>
          </a:prstGeom>
          <a:noFill/>
          <a:ln w="22225" cap="flat" cmpd="sng">
            <a:solidFill>
              <a:srgbClr val="4F7398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21" name="Google Shape;321;p12"/>
          <p:cNvSpPr/>
          <p:nvPr/>
        </p:nvSpPr>
        <p:spPr>
          <a:xfrm>
            <a:off x="3346704" y="1417320"/>
            <a:ext cx="2615184" cy="1097280"/>
          </a:xfrm>
          <a:prstGeom prst="roundRect">
            <a:avLst>
              <a:gd name="adj" fmla="val 7500"/>
            </a:avLst>
          </a:prstGeom>
          <a:solidFill>
            <a:srgbClr val="E9F0F6"/>
          </a:solidFill>
          <a:ln w="15875" cap="flat" cmpd="sng">
            <a:solidFill>
              <a:srgbClr val="AFC4D6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5400000" algn="bl" rotWithShape="0">
              <a:srgbClr val="1B3550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12"/>
          <p:cNvSpPr/>
          <p:nvPr/>
        </p:nvSpPr>
        <p:spPr>
          <a:xfrm>
            <a:off x="3456432" y="1417320"/>
            <a:ext cx="2395728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355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B3550"/>
                </a:solidFill>
                <a:latin typeface="Calibri"/>
                <a:ea typeface="Calibri"/>
                <a:cs typeface="Calibri"/>
                <a:sym typeface="Calibri"/>
              </a:rPr>
              <a:t>Tool-Agent Layer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355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B3550"/>
                </a:solidFill>
                <a:latin typeface="Calibri"/>
                <a:ea typeface="Calibri"/>
                <a:cs typeface="Calibri"/>
                <a:sym typeface="Calibri"/>
              </a:rPr>
              <a:t>(Search / RAG / Calculator)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2"/>
          <p:cNvSpPr/>
          <p:nvPr/>
        </p:nvSpPr>
        <p:spPr>
          <a:xfrm>
            <a:off x="3182112" y="1252728"/>
            <a:ext cx="365760" cy="365760"/>
          </a:xfrm>
          <a:prstGeom prst="ellipse">
            <a:avLst/>
          </a:prstGeom>
          <a:solidFill>
            <a:srgbClr val="4F7398"/>
          </a:solidFill>
          <a:ln>
            <a:noFill/>
          </a:ln>
          <a:effectLst>
            <a:outerShdw blurRad="50800" dist="12700" dir="54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12"/>
          <p:cNvSpPr/>
          <p:nvPr/>
        </p:nvSpPr>
        <p:spPr>
          <a:xfrm>
            <a:off x="3182112" y="125272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5" name="Google Shape;325;p12"/>
          <p:cNvCxnSpPr/>
          <p:nvPr/>
        </p:nvCxnSpPr>
        <p:spPr>
          <a:xfrm>
            <a:off x="5961888" y="1965960"/>
            <a:ext cx="274320" cy="0"/>
          </a:xfrm>
          <a:prstGeom prst="straightConnector1">
            <a:avLst/>
          </a:prstGeom>
          <a:noFill/>
          <a:ln w="22225" cap="flat" cmpd="sng">
            <a:solidFill>
              <a:srgbClr val="4F7398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26" name="Google Shape;326;p12"/>
          <p:cNvSpPr/>
          <p:nvPr/>
        </p:nvSpPr>
        <p:spPr>
          <a:xfrm>
            <a:off x="6236208" y="1417320"/>
            <a:ext cx="2615184" cy="1097280"/>
          </a:xfrm>
          <a:prstGeom prst="roundRect">
            <a:avLst>
              <a:gd name="adj" fmla="val 7500"/>
            </a:avLst>
          </a:prstGeom>
          <a:solidFill>
            <a:srgbClr val="E9F0F6"/>
          </a:solidFill>
          <a:ln w="15875" cap="flat" cmpd="sng">
            <a:solidFill>
              <a:srgbClr val="AFC4D6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5400000" algn="bl" rotWithShape="0">
              <a:srgbClr val="1B3550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12"/>
          <p:cNvSpPr/>
          <p:nvPr/>
        </p:nvSpPr>
        <p:spPr>
          <a:xfrm>
            <a:off x="6345936" y="1417320"/>
            <a:ext cx="2395728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355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B3550"/>
                </a:solidFill>
                <a:latin typeface="Calibri"/>
                <a:ea typeface="Calibri"/>
                <a:cs typeface="Calibri"/>
                <a:sym typeface="Calibri"/>
              </a:rPr>
              <a:t>Cross-Source Validation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2"/>
          <p:cNvSpPr/>
          <p:nvPr/>
        </p:nvSpPr>
        <p:spPr>
          <a:xfrm>
            <a:off x="6071616" y="1252728"/>
            <a:ext cx="365760" cy="365760"/>
          </a:xfrm>
          <a:prstGeom prst="ellipse">
            <a:avLst/>
          </a:prstGeom>
          <a:solidFill>
            <a:srgbClr val="4F7398"/>
          </a:solidFill>
          <a:ln>
            <a:noFill/>
          </a:ln>
          <a:effectLst>
            <a:outerShdw blurRad="50800" dist="12700" dir="54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12"/>
          <p:cNvSpPr/>
          <p:nvPr/>
        </p:nvSpPr>
        <p:spPr>
          <a:xfrm>
            <a:off x="6071616" y="125272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0" name="Google Shape;330;p12"/>
          <p:cNvCxnSpPr/>
          <p:nvPr/>
        </p:nvCxnSpPr>
        <p:spPr>
          <a:xfrm>
            <a:off x="8851392" y="1965960"/>
            <a:ext cx="274320" cy="0"/>
          </a:xfrm>
          <a:prstGeom prst="straightConnector1">
            <a:avLst/>
          </a:prstGeom>
          <a:noFill/>
          <a:ln w="22225" cap="flat" cmpd="sng">
            <a:solidFill>
              <a:srgbClr val="4F7398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31" name="Google Shape;331;p12"/>
          <p:cNvSpPr/>
          <p:nvPr/>
        </p:nvSpPr>
        <p:spPr>
          <a:xfrm>
            <a:off x="9125712" y="1417320"/>
            <a:ext cx="2615184" cy="1097280"/>
          </a:xfrm>
          <a:prstGeom prst="roundRect">
            <a:avLst>
              <a:gd name="adj" fmla="val 7500"/>
            </a:avLst>
          </a:prstGeom>
          <a:solidFill>
            <a:srgbClr val="F1E1C9"/>
          </a:solidFill>
          <a:ln w="15875" cap="flat" cmpd="sng">
            <a:solidFill>
              <a:srgbClr val="B0793F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5400000" algn="bl" rotWithShape="0">
              <a:srgbClr val="1B3550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12"/>
          <p:cNvSpPr/>
          <p:nvPr/>
        </p:nvSpPr>
        <p:spPr>
          <a:xfrm>
            <a:off x="9235440" y="1417320"/>
            <a:ext cx="2395728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C5F2D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8C5F2D"/>
                </a:solidFill>
                <a:latin typeface="Calibri"/>
                <a:ea typeface="Calibri"/>
                <a:cs typeface="Calibri"/>
                <a:sym typeface="Calibri"/>
              </a:rPr>
              <a:t>Evidence-Disagreement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C5F2D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8C5F2D"/>
                </a:solidFill>
                <a:latin typeface="Calibri"/>
                <a:ea typeface="Calibri"/>
                <a:cs typeface="Calibri"/>
                <a:sym typeface="Calibri"/>
              </a:rPr>
              <a:t>Trigger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2"/>
          <p:cNvSpPr/>
          <p:nvPr/>
        </p:nvSpPr>
        <p:spPr>
          <a:xfrm>
            <a:off x="8961120" y="1252728"/>
            <a:ext cx="365760" cy="365760"/>
          </a:xfrm>
          <a:prstGeom prst="ellipse">
            <a:avLst/>
          </a:prstGeom>
          <a:solidFill>
            <a:srgbClr val="B0793F"/>
          </a:solidFill>
          <a:ln>
            <a:noFill/>
          </a:ln>
          <a:effectLst>
            <a:outerShdw blurRad="50800" dist="12700" dir="54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12"/>
          <p:cNvSpPr/>
          <p:nvPr/>
        </p:nvSpPr>
        <p:spPr>
          <a:xfrm>
            <a:off x="8961120" y="125272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5" name="Google Shape;335;p12"/>
          <p:cNvCxnSpPr/>
          <p:nvPr/>
        </p:nvCxnSpPr>
        <p:spPr>
          <a:xfrm>
            <a:off x="10433304" y="2514600"/>
            <a:ext cx="0" cy="731520"/>
          </a:xfrm>
          <a:prstGeom prst="straightConnector1">
            <a:avLst/>
          </a:prstGeom>
          <a:noFill/>
          <a:ln w="22225" cap="flat" cmpd="sng">
            <a:solidFill>
              <a:srgbClr val="4F7398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36" name="Google Shape;336;p12"/>
          <p:cNvSpPr/>
          <p:nvPr/>
        </p:nvSpPr>
        <p:spPr>
          <a:xfrm>
            <a:off x="9125712" y="3246120"/>
            <a:ext cx="2615184" cy="1097280"/>
          </a:xfrm>
          <a:prstGeom prst="roundRect">
            <a:avLst>
              <a:gd name="adj" fmla="val 7500"/>
            </a:avLst>
          </a:prstGeom>
          <a:solidFill>
            <a:srgbClr val="F1E1C9"/>
          </a:solidFill>
          <a:ln w="15875" cap="flat" cmpd="sng">
            <a:solidFill>
              <a:srgbClr val="B0793F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5400000" algn="bl" rotWithShape="0">
              <a:srgbClr val="1B3550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12"/>
          <p:cNvSpPr/>
          <p:nvPr/>
        </p:nvSpPr>
        <p:spPr>
          <a:xfrm>
            <a:off x="9235440" y="3246120"/>
            <a:ext cx="2395728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C5F2D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8C5F2D"/>
                </a:solidFill>
                <a:latin typeface="Calibri"/>
                <a:ea typeface="Calibri"/>
                <a:cs typeface="Calibri"/>
                <a:sym typeface="Calibri"/>
              </a:rPr>
              <a:t>Conflict-Type Classifier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2"/>
          <p:cNvSpPr/>
          <p:nvPr/>
        </p:nvSpPr>
        <p:spPr>
          <a:xfrm>
            <a:off x="8961120" y="3081528"/>
            <a:ext cx="365760" cy="365760"/>
          </a:xfrm>
          <a:prstGeom prst="ellipse">
            <a:avLst/>
          </a:prstGeom>
          <a:solidFill>
            <a:srgbClr val="B0793F"/>
          </a:solidFill>
          <a:ln>
            <a:noFill/>
          </a:ln>
          <a:effectLst>
            <a:outerShdw blurRad="50800" dist="12700" dir="54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12"/>
          <p:cNvSpPr/>
          <p:nvPr/>
        </p:nvSpPr>
        <p:spPr>
          <a:xfrm>
            <a:off x="8961120" y="308152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2"/>
          <p:cNvSpPr/>
          <p:nvPr/>
        </p:nvSpPr>
        <p:spPr>
          <a:xfrm>
            <a:off x="6236208" y="3246120"/>
            <a:ext cx="2615184" cy="1097280"/>
          </a:xfrm>
          <a:prstGeom prst="roundRect">
            <a:avLst>
              <a:gd name="adj" fmla="val 7500"/>
            </a:avLst>
          </a:prstGeom>
          <a:solidFill>
            <a:srgbClr val="E9F0F6"/>
          </a:solidFill>
          <a:ln w="15875" cap="flat" cmpd="sng">
            <a:solidFill>
              <a:srgbClr val="AFC4D6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5400000" algn="bl" rotWithShape="0">
              <a:srgbClr val="1B3550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12"/>
          <p:cNvSpPr/>
          <p:nvPr/>
        </p:nvSpPr>
        <p:spPr>
          <a:xfrm>
            <a:off x="6345936" y="3246120"/>
            <a:ext cx="2395728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355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B3550"/>
                </a:solidFill>
                <a:latin typeface="Calibri"/>
                <a:ea typeface="Calibri"/>
                <a:cs typeface="Calibri"/>
                <a:sym typeface="Calibri"/>
              </a:rPr>
              <a:t>Conflict-Aware Debate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2"/>
          <p:cNvSpPr/>
          <p:nvPr/>
        </p:nvSpPr>
        <p:spPr>
          <a:xfrm>
            <a:off x="6071616" y="3081528"/>
            <a:ext cx="365760" cy="365760"/>
          </a:xfrm>
          <a:prstGeom prst="ellipse">
            <a:avLst/>
          </a:prstGeom>
          <a:solidFill>
            <a:srgbClr val="4F7398"/>
          </a:solidFill>
          <a:ln>
            <a:noFill/>
          </a:ln>
          <a:effectLst>
            <a:outerShdw blurRad="50800" dist="12700" dir="54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12"/>
          <p:cNvSpPr/>
          <p:nvPr/>
        </p:nvSpPr>
        <p:spPr>
          <a:xfrm>
            <a:off x="6071616" y="308152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2"/>
          <p:cNvSpPr/>
          <p:nvPr/>
        </p:nvSpPr>
        <p:spPr>
          <a:xfrm>
            <a:off x="3346704" y="3246120"/>
            <a:ext cx="2615184" cy="1097280"/>
          </a:xfrm>
          <a:prstGeom prst="roundRect">
            <a:avLst>
              <a:gd name="adj" fmla="val 7500"/>
            </a:avLst>
          </a:prstGeom>
          <a:solidFill>
            <a:srgbClr val="E9F0F6"/>
          </a:solidFill>
          <a:ln w="15875" cap="flat" cmpd="sng">
            <a:solidFill>
              <a:srgbClr val="AFC4D6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5400000" algn="bl" rotWithShape="0">
              <a:srgbClr val="1B3550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12"/>
          <p:cNvSpPr/>
          <p:nvPr/>
        </p:nvSpPr>
        <p:spPr>
          <a:xfrm>
            <a:off x="3456432" y="3246120"/>
            <a:ext cx="2395728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355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B3550"/>
                </a:solidFill>
                <a:latin typeface="Calibri"/>
                <a:ea typeface="Calibri"/>
                <a:cs typeface="Calibri"/>
                <a:sym typeface="Calibri"/>
              </a:rPr>
              <a:t>Debate Judge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2"/>
          <p:cNvSpPr/>
          <p:nvPr/>
        </p:nvSpPr>
        <p:spPr>
          <a:xfrm>
            <a:off x="3182112" y="3081528"/>
            <a:ext cx="365760" cy="365760"/>
          </a:xfrm>
          <a:prstGeom prst="ellipse">
            <a:avLst/>
          </a:prstGeom>
          <a:solidFill>
            <a:srgbClr val="4F7398"/>
          </a:solidFill>
          <a:ln>
            <a:noFill/>
          </a:ln>
          <a:effectLst>
            <a:outerShdw blurRad="50800" dist="12700" dir="54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12"/>
          <p:cNvSpPr/>
          <p:nvPr/>
        </p:nvSpPr>
        <p:spPr>
          <a:xfrm>
            <a:off x="3182112" y="308152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2"/>
          <p:cNvSpPr/>
          <p:nvPr/>
        </p:nvSpPr>
        <p:spPr>
          <a:xfrm>
            <a:off x="457200" y="3246120"/>
            <a:ext cx="2615184" cy="1097280"/>
          </a:xfrm>
          <a:prstGeom prst="roundRect">
            <a:avLst>
              <a:gd name="adj" fmla="val 7500"/>
            </a:avLst>
          </a:prstGeom>
          <a:solidFill>
            <a:srgbClr val="E9F0F6"/>
          </a:solidFill>
          <a:ln w="15875" cap="flat" cmpd="sng">
            <a:solidFill>
              <a:srgbClr val="AFC4D6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5400000" algn="bl" rotWithShape="0">
              <a:srgbClr val="1B3550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12"/>
          <p:cNvSpPr/>
          <p:nvPr/>
        </p:nvSpPr>
        <p:spPr>
          <a:xfrm>
            <a:off x="566928" y="3246120"/>
            <a:ext cx="2395728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355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B3550"/>
                </a:solidFill>
                <a:latin typeface="Calibri"/>
                <a:ea typeface="Calibri"/>
                <a:cs typeface="Calibri"/>
                <a:sym typeface="Calibri"/>
              </a:rPr>
              <a:t>Final Response Generator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2"/>
          <p:cNvSpPr/>
          <p:nvPr/>
        </p:nvSpPr>
        <p:spPr>
          <a:xfrm>
            <a:off x="292608" y="3081528"/>
            <a:ext cx="365760" cy="365760"/>
          </a:xfrm>
          <a:prstGeom prst="ellipse">
            <a:avLst/>
          </a:prstGeom>
          <a:solidFill>
            <a:srgbClr val="4F7398"/>
          </a:solidFill>
          <a:ln>
            <a:noFill/>
          </a:ln>
          <a:effectLst>
            <a:outerShdw blurRad="50800" dist="12700" dir="54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12"/>
          <p:cNvSpPr/>
          <p:nvPr/>
        </p:nvSpPr>
        <p:spPr>
          <a:xfrm>
            <a:off x="292608" y="308152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2" name="Google Shape;352;p12"/>
          <p:cNvCxnSpPr/>
          <p:nvPr/>
        </p:nvCxnSpPr>
        <p:spPr>
          <a:xfrm>
            <a:off x="8851392" y="3794760"/>
            <a:ext cx="274320" cy="0"/>
          </a:xfrm>
          <a:prstGeom prst="straightConnector1">
            <a:avLst/>
          </a:prstGeom>
          <a:noFill/>
          <a:ln w="22225" cap="flat" cmpd="sng">
            <a:solidFill>
              <a:srgbClr val="4F7398"/>
            </a:solidFill>
            <a:prstDash val="solid"/>
            <a:round/>
            <a:headEnd type="triangle" w="med" len="med"/>
            <a:tailEnd type="none" w="sm" len="sm"/>
          </a:ln>
        </p:spPr>
      </p:cxnSp>
      <p:cxnSp>
        <p:nvCxnSpPr>
          <p:cNvPr id="353" name="Google Shape;353;p12"/>
          <p:cNvCxnSpPr/>
          <p:nvPr/>
        </p:nvCxnSpPr>
        <p:spPr>
          <a:xfrm>
            <a:off x="5961888" y="3794760"/>
            <a:ext cx="274320" cy="0"/>
          </a:xfrm>
          <a:prstGeom prst="straightConnector1">
            <a:avLst/>
          </a:prstGeom>
          <a:noFill/>
          <a:ln w="22225" cap="flat" cmpd="sng">
            <a:solidFill>
              <a:srgbClr val="4F7398"/>
            </a:solidFill>
            <a:prstDash val="solid"/>
            <a:round/>
            <a:headEnd type="triangle" w="med" len="med"/>
            <a:tailEnd type="none" w="sm" len="sm"/>
          </a:ln>
        </p:spPr>
      </p:cxnSp>
      <p:cxnSp>
        <p:nvCxnSpPr>
          <p:cNvPr id="354" name="Google Shape;354;p12"/>
          <p:cNvCxnSpPr/>
          <p:nvPr/>
        </p:nvCxnSpPr>
        <p:spPr>
          <a:xfrm>
            <a:off x="3072384" y="3794760"/>
            <a:ext cx="274320" cy="0"/>
          </a:xfrm>
          <a:prstGeom prst="straightConnector1">
            <a:avLst/>
          </a:prstGeom>
          <a:noFill/>
          <a:ln w="22225" cap="flat" cmpd="sng">
            <a:solidFill>
              <a:srgbClr val="4F7398"/>
            </a:solidFill>
            <a:prstDash val="solid"/>
            <a:round/>
            <a:headEnd type="triangle" w="med" len="med"/>
            <a:tailEnd type="none" w="sm" len="sm"/>
          </a:ln>
        </p:spPr>
      </p:cxnSp>
      <p:sp>
        <p:nvSpPr>
          <p:cNvPr id="355" name="Google Shape;355;p12"/>
          <p:cNvSpPr/>
          <p:nvPr/>
        </p:nvSpPr>
        <p:spPr>
          <a:xfrm>
            <a:off x="457200" y="4663440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E9F0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12"/>
          <p:cNvSpPr/>
          <p:nvPr/>
        </p:nvSpPr>
        <p:spPr>
          <a:xfrm>
            <a:off x="749808" y="4608576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0808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70808F"/>
                </a:solidFill>
                <a:latin typeface="Calibri"/>
                <a:ea typeface="Calibri"/>
                <a:cs typeface="Calibri"/>
                <a:sym typeface="Calibri"/>
              </a:rPr>
              <a:t>Existing MAD component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2"/>
          <p:cNvSpPr/>
          <p:nvPr/>
        </p:nvSpPr>
        <p:spPr>
          <a:xfrm>
            <a:off x="3474720" y="4663440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F1E1C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12"/>
          <p:cNvSpPr/>
          <p:nvPr/>
        </p:nvSpPr>
        <p:spPr>
          <a:xfrm>
            <a:off x="3767328" y="4608576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0808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70808F"/>
                </a:solidFill>
                <a:latin typeface="Calibri"/>
                <a:ea typeface="Calibri"/>
                <a:cs typeface="Calibri"/>
                <a:sym typeface="Calibri"/>
              </a:rPr>
              <a:t>Proposed novel component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2"/>
          <p:cNvSpPr/>
          <p:nvPr/>
        </p:nvSpPr>
        <p:spPr>
          <a:xfrm>
            <a:off x="457200" y="5047488"/>
            <a:ext cx="1127455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0808F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70808F"/>
                </a:solidFill>
                <a:latin typeface="Calibri"/>
                <a:ea typeface="Calibri"/>
                <a:cs typeface="Calibri"/>
                <a:sym typeface="Calibri"/>
              </a:rPr>
              <a:t>Note:  Module 4 conditionally bypasses Modules 5–6 whenever retrieved evidence already agrees, sending the query straight to the Judge (see Methodology, Step 5).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3"/>
          <p:cNvSpPr/>
          <p:nvPr/>
        </p:nvSpPr>
        <p:spPr>
          <a:xfrm>
            <a:off x="457200" y="29260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5F2D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8C5F2D"/>
                </a:solidFill>
                <a:latin typeface="Calibri"/>
                <a:ea typeface="Calibri"/>
                <a:cs typeface="Calibri"/>
                <a:sym typeface="Calibri"/>
              </a:rPr>
              <a:t>SYSTEM DESIGN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3"/>
          <p:cNvSpPr/>
          <p:nvPr/>
        </p:nvSpPr>
        <p:spPr>
          <a:xfrm>
            <a:off x="457200" y="530352"/>
            <a:ext cx="1127455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3550"/>
              </a:buClr>
              <a:buSzPts val="2700"/>
              <a:buFont typeface="Cambria"/>
              <a:buNone/>
            </a:pPr>
            <a:r>
              <a:rPr lang="en-US" sz="2700" b="1" i="0" u="none" strike="noStrike" cap="none">
                <a:solidFill>
                  <a:srgbClr val="1B3550"/>
                </a:solidFill>
                <a:latin typeface="Cambria"/>
                <a:ea typeface="Cambria"/>
                <a:cs typeface="Cambria"/>
                <a:sym typeface="Cambria"/>
              </a:rPr>
              <a:t>Module Description — Details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3"/>
          <p:cNvSpPr/>
          <p:nvPr/>
        </p:nvSpPr>
        <p:spPr>
          <a:xfrm>
            <a:off x="457200" y="1234440"/>
            <a:ext cx="2615184" cy="2148840"/>
          </a:xfrm>
          <a:prstGeom prst="roundRect">
            <a:avLst>
              <a:gd name="adj" fmla="val 3404"/>
            </a:avLst>
          </a:prstGeom>
          <a:solidFill>
            <a:srgbClr val="F4F8FB"/>
          </a:solidFill>
          <a:ln w="12700" cap="flat" cmpd="sng">
            <a:solidFill>
              <a:srgbClr val="AFC4D6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B355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13"/>
          <p:cNvSpPr/>
          <p:nvPr/>
        </p:nvSpPr>
        <p:spPr>
          <a:xfrm>
            <a:off x="576072" y="1353312"/>
            <a:ext cx="384048" cy="384048"/>
          </a:xfrm>
          <a:prstGeom prst="ellipse">
            <a:avLst/>
          </a:prstGeom>
          <a:solidFill>
            <a:srgbClr val="4F7398"/>
          </a:solidFill>
          <a:ln>
            <a:noFill/>
          </a:ln>
          <a:effectLst>
            <a:outerShdw blurRad="50800" dist="12700" dir="54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13"/>
          <p:cNvSpPr/>
          <p:nvPr/>
        </p:nvSpPr>
        <p:spPr>
          <a:xfrm>
            <a:off x="576072" y="135331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3"/>
          <p:cNvSpPr/>
          <p:nvPr/>
        </p:nvSpPr>
        <p:spPr>
          <a:xfrm>
            <a:off x="621792" y="1801368"/>
            <a:ext cx="22860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B3550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1B3550"/>
                </a:solidFill>
                <a:latin typeface="Calibri"/>
                <a:ea typeface="Calibri"/>
                <a:cs typeface="Calibri"/>
                <a:sym typeface="Calibri"/>
              </a:rPr>
              <a:t>Query Router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3"/>
          <p:cNvSpPr/>
          <p:nvPr/>
        </p:nvSpPr>
        <p:spPr>
          <a:xfrm>
            <a:off x="621792" y="2313432"/>
            <a:ext cx="228600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26313B"/>
              </a:buClr>
              <a:buSzPts val="970"/>
              <a:buFont typeface="Calibri"/>
              <a:buNone/>
            </a:pPr>
            <a:r>
              <a:rPr lang="en-US" sz="1200" b="0" i="0" u="none" strike="noStrike" cap="none">
                <a:solidFill>
                  <a:srgbClr val="26313B"/>
                </a:solidFill>
                <a:latin typeface="Calibri"/>
                <a:ea typeface="Calibri"/>
                <a:cs typeface="Calibri"/>
                <a:sym typeface="Calibri"/>
              </a:rPr>
              <a:t>Analyzes the incoming query and selects the relevant tool-enabled agents from a fixed agent pool.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3"/>
          <p:cNvSpPr/>
          <p:nvPr/>
        </p:nvSpPr>
        <p:spPr>
          <a:xfrm>
            <a:off x="3346704" y="1234440"/>
            <a:ext cx="2615184" cy="2148840"/>
          </a:xfrm>
          <a:prstGeom prst="roundRect">
            <a:avLst>
              <a:gd name="adj" fmla="val 3404"/>
            </a:avLst>
          </a:prstGeom>
          <a:solidFill>
            <a:srgbClr val="F4F8FB"/>
          </a:solidFill>
          <a:ln w="12700" cap="flat" cmpd="sng">
            <a:solidFill>
              <a:srgbClr val="AFC4D6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B355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13"/>
          <p:cNvSpPr/>
          <p:nvPr/>
        </p:nvSpPr>
        <p:spPr>
          <a:xfrm>
            <a:off x="3465576" y="1353312"/>
            <a:ext cx="384048" cy="384048"/>
          </a:xfrm>
          <a:prstGeom prst="ellipse">
            <a:avLst/>
          </a:prstGeom>
          <a:solidFill>
            <a:srgbClr val="4F7398"/>
          </a:solidFill>
          <a:ln>
            <a:noFill/>
          </a:ln>
          <a:effectLst>
            <a:outerShdw blurRad="50800" dist="12700" dir="54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13"/>
          <p:cNvSpPr/>
          <p:nvPr/>
        </p:nvSpPr>
        <p:spPr>
          <a:xfrm>
            <a:off x="3465576" y="135331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3"/>
          <p:cNvSpPr/>
          <p:nvPr/>
        </p:nvSpPr>
        <p:spPr>
          <a:xfrm>
            <a:off x="3511296" y="1801368"/>
            <a:ext cx="22860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B3550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1B3550"/>
                </a:solidFill>
                <a:latin typeface="Calibri"/>
                <a:ea typeface="Calibri"/>
                <a:cs typeface="Calibri"/>
                <a:sym typeface="Calibri"/>
              </a:rPr>
              <a:t>Tool-Agent Layer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3"/>
          <p:cNvSpPr/>
          <p:nvPr/>
        </p:nvSpPr>
        <p:spPr>
          <a:xfrm>
            <a:off x="3511296" y="2313432"/>
            <a:ext cx="228600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26313B"/>
              </a:buClr>
              <a:buSzPts val="970"/>
              <a:buFont typeface="Calibri"/>
              <a:buNone/>
            </a:pPr>
            <a:r>
              <a:rPr lang="en-US" sz="1200" b="0" i="0" u="none" strike="noStrike" cap="none">
                <a:solidFill>
                  <a:srgbClr val="26313B"/>
                </a:solidFill>
                <a:latin typeface="Calibri"/>
                <a:ea typeface="Calibri"/>
                <a:cs typeface="Calibri"/>
                <a:sym typeface="Calibri"/>
              </a:rPr>
              <a:t>Selected agents independently use tools (Web Search, RAG, Calculator) to retrieve evidence and form initial answers.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3"/>
          <p:cNvSpPr/>
          <p:nvPr/>
        </p:nvSpPr>
        <p:spPr>
          <a:xfrm>
            <a:off x="6236208" y="1234440"/>
            <a:ext cx="2615184" cy="2148840"/>
          </a:xfrm>
          <a:prstGeom prst="roundRect">
            <a:avLst>
              <a:gd name="adj" fmla="val 3404"/>
            </a:avLst>
          </a:prstGeom>
          <a:solidFill>
            <a:srgbClr val="F4F8FB"/>
          </a:solidFill>
          <a:ln w="12700" cap="flat" cmpd="sng">
            <a:solidFill>
              <a:srgbClr val="AFC4D6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B355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13"/>
          <p:cNvSpPr/>
          <p:nvPr/>
        </p:nvSpPr>
        <p:spPr>
          <a:xfrm>
            <a:off x="6355080" y="1353312"/>
            <a:ext cx="384048" cy="384048"/>
          </a:xfrm>
          <a:prstGeom prst="ellipse">
            <a:avLst/>
          </a:prstGeom>
          <a:solidFill>
            <a:srgbClr val="4F7398"/>
          </a:solidFill>
          <a:ln>
            <a:noFill/>
          </a:ln>
          <a:effectLst>
            <a:outerShdw blurRad="50800" dist="12700" dir="54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13"/>
          <p:cNvSpPr/>
          <p:nvPr/>
        </p:nvSpPr>
        <p:spPr>
          <a:xfrm>
            <a:off x="6355080" y="135331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3"/>
          <p:cNvSpPr/>
          <p:nvPr/>
        </p:nvSpPr>
        <p:spPr>
          <a:xfrm>
            <a:off x="6400800" y="1801368"/>
            <a:ext cx="22860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B3550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1B3550"/>
                </a:solidFill>
                <a:latin typeface="Calibri"/>
                <a:ea typeface="Calibri"/>
                <a:cs typeface="Calibri"/>
                <a:sym typeface="Calibri"/>
              </a:rPr>
              <a:t>Cross-Source Validation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3"/>
          <p:cNvSpPr/>
          <p:nvPr/>
        </p:nvSpPr>
        <p:spPr>
          <a:xfrm>
            <a:off x="6400800" y="2313432"/>
            <a:ext cx="228600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26313B"/>
              </a:buClr>
              <a:buSzPts val="970"/>
              <a:buFont typeface="Calibri"/>
              <a:buNone/>
            </a:pPr>
            <a:r>
              <a:rPr lang="en-US" sz="1200" b="0" i="0" u="none" strike="noStrike" cap="none">
                <a:solidFill>
                  <a:srgbClr val="26313B"/>
                </a:solidFill>
                <a:latin typeface="Calibri"/>
                <a:ea typeface="Calibri"/>
                <a:cs typeface="Calibri"/>
                <a:sym typeface="Calibri"/>
              </a:rPr>
              <a:t>Compares evidence retrieved by different agents to check whether their sources support the same conclusion.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3"/>
          <p:cNvSpPr/>
          <p:nvPr/>
        </p:nvSpPr>
        <p:spPr>
          <a:xfrm>
            <a:off x="9125712" y="1234440"/>
            <a:ext cx="2615184" cy="2148840"/>
          </a:xfrm>
          <a:prstGeom prst="roundRect">
            <a:avLst>
              <a:gd name="adj" fmla="val 3404"/>
            </a:avLst>
          </a:prstGeom>
          <a:solidFill>
            <a:srgbClr val="F1E1C9"/>
          </a:solidFill>
          <a:ln w="12700" cap="flat" cmpd="sng">
            <a:solidFill>
              <a:srgbClr val="B0793F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B355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13"/>
          <p:cNvSpPr/>
          <p:nvPr/>
        </p:nvSpPr>
        <p:spPr>
          <a:xfrm>
            <a:off x="9244584" y="1353312"/>
            <a:ext cx="384048" cy="384048"/>
          </a:xfrm>
          <a:prstGeom prst="ellipse">
            <a:avLst/>
          </a:prstGeom>
          <a:solidFill>
            <a:srgbClr val="B0793F"/>
          </a:solidFill>
          <a:ln>
            <a:noFill/>
          </a:ln>
          <a:effectLst>
            <a:outerShdw blurRad="50800" dist="12700" dir="54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13"/>
          <p:cNvSpPr/>
          <p:nvPr/>
        </p:nvSpPr>
        <p:spPr>
          <a:xfrm>
            <a:off x="9244584" y="135331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3"/>
          <p:cNvSpPr/>
          <p:nvPr/>
        </p:nvSpPr>
        <p:spPr>
          <a:xfrm>
            <a:off x="9290304" y="1801368"/>
            <a:ext cx="22860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8C5F2D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8C5F2D"/>
                </a:solidFill>
                <a:latin typeface="Calibri"/>
                <a:ea typeface="Calibri"/>
                <a:cs typeface="Calibri"/>
                <a:sym typeface="Calibri"/>
              </a:rPr>
              <a:t>Evidence-Disagreement Trigger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3"/>
          <p:cNvSpPr/>
          <p:nvPr/>
        </p:nvSpPr>
        <p:spPr>
          <a:xfrm>
            <a:off x="9290304" y="2313432"/>
            <a:ext cx="228600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26313B"/>
              </a:buClr>
              <a:buSzPts val="970"/>
              <a:buFont typeface="Calibri"/>
              <a:buNone/>
            </a:pPr>
            <a:r>
              <a:rPr lang="en-US" sz="1200" b="0" i="0" u="none" strike="noStrike" cap="none">
                <a:solidFill>
                  <a:srgbClr val="26313B"/>
                </a:solidFill>
                <a:latin typeface="Calibri"/>
                <a:ea typeface="Calibri"/>
                <a:cs typeface="Calibri"/>
                <a:sym typeface="Calibri"/>
              </a:rPr>
              <a:t>Skips debate when evidence is consistent; activates debate only when a significant disagreement is detected.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3"/>
          <p:cNvSpPr/>
          <p:nvPr/>
        </p:nvSpPr>
        <p:spPr>
          <a:xfrm>
            <a:off x="457200" y="3703320"/>
            <a:ext cx="2615184" cy="2148840"/>
          </a:xfrm>
          <a:prstGeom prst="roundRect">
            <a:avLst>
              <a:gd name="adj" fmla="val 3404"/>
            </a:avLst>
          </a:prstGeom>
          <a:solidFill>
            <a:srgbClr val="F1E1C9"/>
          </a:solidFill>
          <a:ln w="12700" cap="flat" cmpd="sng">
            <a:solidFill>
              <a:srgbClr val="B0793F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B355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13"/>
          <p:cNvSpPr/>
          <p:nvPr/>
        </p:nvSpPr>
        <p:spPr>
          <a:xfrm>
            <a:off x="576072" y="3822192"/>
            <a:ext cx="384048" cy="384048"/>
          </a:xfrm>
          <a:prstGeom prst="ellipse">
            <a:avLst/>
          </a:prstGeom>
          <a:solidFill>
            <a:srgbClr val="B0793F"/>
          </a:solidFill>
          <a:ln>
            <a:noFill/>
          </a:ln>
          <a:effectLst>
            <a:outerShdw blurRad="50800" dist="12700" dir="54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13"/>
          <p:cNvSpPr/>
          <p:nvPr/>
        </p:nvSpPr>
        <p:spPr>
          <a:xfrm>
            <a:off x="576072" y="382219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3"/>
          <p:cNvSpPr/>
          <p:nvPr/>
        </p:nvSpPr>
        <p:spPr>
          <a:xfrm>
            <a:off x="621792" y="4270248"/>
            <a:ext cx="22860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8C5F2D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8C5F2D"/>
                </a:solidFill>
                <a:latin typeface="Calibri"/>
                <a:ea typeface="Calibri"/>
                <a:cs typeface="Calibri"/>
                <a:sym typeface="Calibri"/>
              </a:rPr>
              <a:t>Conflict-Type Classifier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3"/>
          <p:cNvSpPr/>
          <p:nvPr/>
        </p:nvSpPr>
        <p:spPr>
          <a:xfrm>
            <a:off x="621792" y="4782312"/>
            <a:ext cx="228600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26313B"/>
              </a:buClr>
              <a:buSzPts val="970"/>
              <a:buFont typeface="Calibri"/>
              <a:buNone/>
            </a:pPr>
            <a:r>
              <a:rPr lang="en-US" sz="1200" b="0" i="0" u="none" strike="noStrike" cap="none">
                <a:solidFill>
                  <a:srgbClr val="26313B"/>
                </a:solidFill>
                <a:latin typeface="Calibri"/>
                <a:ea typeface="Calibri"/>
                <a:cs typeface="Calibri"/>
                <a:sym typeface="Calibri"/>
              </a:rPr>
              <a:t>Classifies the detected conflict as factual, temporal, version, contextual, or source-related.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3"/>
          <p:cNvSpPr/>
          <p:nvPr/>
        </p:nvSpPr>
        <p:spPr>
          <a:xfrm>
            <a:off x="3346704" y="3703320"/>
            <a:ext cx="2615184" cy="2148840"/>
          </a:xfrm>
          <a:prstGeom prst="roundRect">
            <a:avLst>
              <a:gd name="adj" fmla="val 3404"/>
            </a:avLst>
          </a:prstGeom>
          <a:solidFill>
            <a:srgbClr val="F4F8FB"/>
          </a:solidFill>
          <a:ln w="12700" cap="flat" cmpd="sng">
            <a:solidFill>
              <a:srgbClr val="AFC4D6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B355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13"/>
          <p:cNvSpPr/>
          <p:nvPr/>
        </p:nvSpPr>
        <p:spPr>
          <a:xfrm>
            <a:off x="3465576" y="3822192"/>
            <a:ext cx="384048" cy="384048"/>
          </a:xfrm>
          <a:prstGeom prst="ellipse">
            <a:avLst/>
          </a:prstGeom>
          <a:solidFill>
            <a:srgbClr val="4F7398"/>
          </a:solidFill>
          <a:ln>
            <a:noFill/>
          </a:ln>
          <a:effectLst>
            <a:outerShdw blurRad="50800" dist="12700" dir="54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13"/>
          <p:cNvSpPr/>
          <p:nvPr/>
        </p:nvSpPr>
        <p:spPr>
          <a:xfrm>
            <a:off x="3465576" y="382219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3"/>
          <p:cNvSpPr/>
          <p:nvPr/>
        </p:nvSpPr>
        <p:spPr>
          <a:xfrm>
            <a:off x="3511296" y="4270248"/>
            <a:ext cx="22860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B3550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1B3550"/>
                </a:solidFill>
                <a:latin typeface="Calibri"/>
                <a:ea typeface="Calibri"/>
                <a:cs typeface="Calibri"/>
                <a:sym typeface="Calibri"/>
              </a:rPr>
              <a:t>Conflict-Aware Debate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3"/>
          <p:cNvSpPr/>
          <p:nvPr/>
        </p:nvSpPr>
        <p:spPr>
          <a:xfrm>
            <a:off x="3511296" y="4782312"/>
            <a:ext cx="228600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26313B"/>
              </a:buClr>
              <a:buSzPts val="970"/>
              <a:buFont typeface="Calibri"/>
              <a:buNone/>
            </a:pPr>
            <a:r>
              <a:rPr lang="en-US" sz="1200" b="0" i="0" u="none" strike="noStrike" cap="none">
                <a:solidFill>
                  <a:srgbClr val="26313B"/>
                </a:solidFill>
                <a:latin typeface="Calibri"/>
                <a:ea typeface="Calibri"/>
                <a:cs typeface="Calibri"/>
                <a:sym typeface="Calibri"/>
              </a:rPr>
              <a:t>Guides the propose → critique → revise debate protocol using the identified conflict type.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3"/>
          <p:cNvSpPr/>
          <p:nvPr/>
        </p:nvSpPr>
        <p:spPr>
          <a:xfrm>
            <a:off x="6236208" y="3703320"/>
            <a:ext cx="2615184" cy="2148840"/>
          </a:xfrm>
          <a:prstGeom prst="roundRect">
            <a:avLst>
              <a:gd name="adj" fmla="val 3404"/>
            </a:avLst>
          </a:prstGeom>
          <a:solidFill>
            <a:srgbClr val="F4F8FB"/>
          </a:solidFill>
          <a:ln w="12700" cap="flat" cmpd="sng">
            <a:solidFill>
              <a:srgbClr val="AFC4D6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B355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13"/>
          <p:cNvSpPr/>
          <p:nvPr/>
        </p:nvSpPr>
        <p:spPr>
          <a:xfrm>
            <a:off x="6355080" y="3822192"/>
            <a:ext cx="384048" cy="384048"/>
          </a:xfrm>
          <a:prstGeom prst="ellipse">
            <a:avLst/>
          </a:prstGeom>
          <a:solidFill>
            <a:srgbClr val="4F7398"/>
          </a:solidFill>
          <a:ln>
            <a:noFill/>
          </a:ln>
          <a:effectLst>
            <a:outerShdw blurRad="50800" dist="12700" dir="54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13"/>
          <p:cNvSpPr/>
          <p:nvPr/>
        </p:nvSpPr>
        <p:spPr>
          <a:xfrm>
            <a:off x="6355080" y="382219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3"/>
          <p:cNvSpPr/>
          <p:nvPr/>
        </p:nvSpPr>
        <p:spPr>
          <a:xfrm>
            <a:off x="6400800" y="4270248"/>
            <a:ext cx="22860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B3550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1B3550"/>
                </a:solidFill>
                <a:latin typeface="Calibri"/>
                <a:ea typeface="Calibri"/>
                <a:cs typeface="Calibri"/>
                <a:sym typeface="Calibri"/>
              </a:rPr>
              <a:t>Debate Judge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3"/>
          <p:cNvSpPr/>
          <p:nvPr/>
        </p:nvSpPr>
        <p:spPr>
          <a:xfrm>
            <a:off x="6400800" y="4782312"/>
            <a:ext cx="228600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26313B"/>
              </a:buClr>
              <a:buSzPts val="970"/>
              <a:buFont typeface="Calibri"/>
              <a:buNone/>
            </a:pPr>
            <a:r>
              <a:rPr lang="en-US" sz="1200" b="0" i="0" u="none" strike="noStrike" cap="none">
                <a:solidFill>
                  <a:srgbClr val="26313B"/>
                </a:solidFill>
                <a:latin typeface="Calibri"/>
                <a:ea typeface="Calibri"/>
                <a:cs typeface="Calibri"/>
                <a:sym typeface="Calibri"/>
              </a:rPr>
              <a:t>Evaluates the final arguments, evidence, consistency, and reasoning to select the answer.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3"/>
          <p:cNvSpPr/>
          <p:nvPr/>
        </p:nvSpPr>
        <p:spPr>
          <a:xfrm>
            <a:off x="9125712" y="3703320"/>
            <a:ext cx="2615184" cy="2148840"/>
          </a:xfrm>
          <a:prstGeom prst="roundRect">
            <a:avLst>
              <a:gd name="adj" fmla="val 3404"/>
            </a:avLst>
          </a:prstGeom>
          <a:solidFill>
            <a:srgbClr val="F4F8FB"/>
          </a:solidFill>
          <a:ln w="12700" cap="flat" cmpd="sng">
            <a:solidFill>
              <a:srgbClr val="AFC4D6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B355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13"/>
          <p:cNvSpPr/>
          <p:nvPr/>
        </p:nvSpPr>
        <p:spPr>
          <a:xfrm>
            <a:off x="9244584" y="3822192"/>
            <a:ext cx="384048" cy="384048"/>
          </a:xfrm>
          <a:prstGeom prst="ellipse">
            <a:avLst/>
          </a:prstGeom>
          <a:solidFill>
            <a:srgbClr val="4F7398"/>
          </a:solidFill>
          <a:ln>
            <a:noFill/>
          </a:ln>
          <a:effectLst>
            <a:outerShdw blurRad="50800" dist="12700" dir="54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13"/>
          <p:cNvSpPr/>
          <p:nvPr/>
        </p:nvSpPr>
        <p:spPr>
          <a:xfrm>
            <a:off x="9244584" y="382219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3"/>
          <p:cNvSpPr/>
          <p:nvPr/>
        </p:nvSpPr>
        <p:spPr>
          <a:xfrm>
            <a:off x="9290304" y="4270248"/>
            <a:ext cx="22860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B3550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1B3550"/>
                </a:solidFill>
                <a:latin typeface="Calibri"/>
                <a:ea typeface="Calibri"/>
                <a:cs typeface="Calibri"/>
                <a:sym typeface="Calibri"/>
              </a:rPr>
              <a:t>Final Response Generator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3"/>
          <p:cNvSpPr/>
          <p:nvPr/>
        </p:nvSpPr>
        <p:spPr>
          <a:xfrm>
            <a:off x="9290304" y="4782312"/>
            <a:ext cx="228600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26313B"/>
              </a:buClr>
              <a:buSzPts val="970"/>
              <a:buFont typeface="Calibri"/>
              <a:buNone/>
            </a:pPr>
            <a:r>
              <a:rPr lang="en-US" sz="1200" b="0" i="0" u="none" strike="noStrike" cap="none">
                <a:solidFill>
                  <a:srgbClr val="26313B"/>
                </a:solidFill>
                <a:latin typeface="Calibri"/>
                <a:ea typeface="Calibri"/>
                <a:cs typeface="Calibri"/>
                <a:sym typeface="Calibri"/>
              </a:rPr>
              <a:t>Produces the final answer along with supporting evidence and the identified conflict / resolution.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3"/>
          <p:cNvSpPr/>
          <p:nvPr/>
        </p:nvSpPr>
        <p:spPr>
          <a:xfrm>
            <a:off x="457200" y="6126480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F4F8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13"/>
          <p:cNvSpPr/>
          <p:nvPr/>
        </p:nvSpPr>
        <p:spPr>
          <a:xfrm>
            <a:off x="749808" y="6071616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0808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70808F"/>
                </a:solidFill>
                <a:latin typeface="Calibri"/>
                <a:ea typeface="Calibri"/>
                <a:cs typeface="Calibri"/>
                <a:sym typeface="Calibri"/>
              </a:rPr>
              <a:t>Existing MAD component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3"/>
          <p:cNvSpPr/>
          <p:nvPr/>
        </p:nvSpPr>
        <p:spPr>
          <a:xfrm>
            <a:off x="3474720" y="6126480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F1E1C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13"/>
          <p:cNvSpPr/>
          <p:nvPr/>
        </p:nvSpPr>
        <p:spPr>
          <a:xfrm>
            <a:off x="3767328" y="6071616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0808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70808F"/>
                </a:solidFill>
                <a:latin typeface="Calibri"/>
                <a:ea typeface="Calibri"/>
                <a:cs typeface="Calibri"/>
                <a:sym typeface="Calibri"/>
              </a:rPr>
              <a:t>Proposed novel component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1871</Words>
  <Application>Microsoft Office PowerPoint</Application>
  <PresentationFormat>Widescreen</PresentationFormat>
  <Paragraphs>228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Sasi Kiran</dc:creator>
  <cp:lastModifiedBy>Sasi Kiran</cp:lastModifiedBy>
  <cp:revision>3</cp:revision>
  <dcterms:modified xsi:type="dcterms:W3CDTF">2026-08-19T05:42:26Z</dcterms:modified>
</cp:coreProperties>
</file>